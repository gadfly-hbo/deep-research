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Lst>
  <p:notesMasterIdLst>
    <p:notesMasterId r:id="rId52"/>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notesMaster" Target="notesMasters/notesMaster1.xml"/><Relationship Id="rId53" Type="http://schemas.openxmlformats.org/officeDocument/2006/relationships/presProps" Target="presProps.xml"/><Relationship Id="rId54" Type="http://schemas.openxmlformats.org/officeDocument/2006/relationships/viewProps" Target="viewProps.xml"/><Relationship Id="rId55" Type="http://schemas.openxmlformats.org/officeDocument/2006/relationships/theme" Target="theme/theme1.xml"/><Relationship Id="rId5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7FB"/>
        </a:solidFill>
      </p:bgPr>
    </p:bg>
    <p:spTree>
      <p:nvGrpSpPr>
        <p:cNvPr id="1" name=""/>
        <p:cNvGrpSpPr/>
        <p:nvPr/>
      </p:nvGrpSpPr>
      <p:grpSpPr>
        <a:xfrm>
          <a:off x="0" y="0"/>
          <a:ext cx="0" cy="0"/>
          <a:chOff x="0" y="0"/>
          <a:chExt cx="0" cy="0"/>
        </a:xfrm>
      </p:grpSpPr>
      <p:sp>
        <p:nvSpPr>
          <p:cNvPr id="2" name="Text 0"/>
          <p:cNvSpPr/>
          <p:nvPr/>
        </p:nvSpPr>
        <p:spPr>
          <a:xfrm>
            <a:off x="822960" y="1920240"/>
            <a:ext cx="10515600" cy="457200"/>
          </a:xfrm>
          <a:prstGeom prst="rect">
            <a:avLst/>
          </a:prstGeom>
          <a:noFill/>
          <a:ln/>
        </p:spPr>
        <p:txBody>
          <a:bodyPr wrap="square" rtlCol="0" anchor="ctr"/>
          <a:lstStyle/>
          <a:p>
            <a:pPr indent="0" marL="0">
              <a:buNone/>
            </a:pPr>
            <a:r>
              <a:rPr lang="en-US" sz="1600" b="1" spc="400" kern="0" dirty="0">
                <a:solidFill>
                  <a:srgbClr val="1E4E8C"/>
                </a:solidFill>
              </a:rPr>
              <a:t>品牌研究</a:t>
            </a:r>
            <a:endParaRPr lang="en-US" sz="1600" dirty="0"/>
          </a:p>
        </p:txBody>
      </p:sp>
      <p:sp>
        <p:nvSpPr>
          <p:cNvPr id="3" name="Text 1"/>
          <p:cNvSpPr/>
          <p:nvPr/>
        </p:nvSpPr>
        <p:spPr>
          <a:xfrm>
            <a:off x="822960" y="2377440"/>
            <a:ext cx="10515600" cy="1463040"/>
          </a:xfrm>
          <a:prstGeom prst="rect">
            <a:avLst/>
          </a:prstGeom>
          <a:noFill/>
          <a:ln/>
        </p:spPr>
        <p:txBody>
          <a:bodyPr wrap="square" rtlCol="0" anchor="ctr"/>
          <a:lstStyle/>
          <a:p>
            <a:pPr indent="0" marL="0">
              <a:buNone/>
            </a:pPr>
            <a:r>
              <a:rPr lang="en-US" sz="4000" b="1" dirty="0">
                <a:solidFill>
                  <a:srgbClr val="1A2233"/>
                </a:solidFill>
              </a:rPr>
              <a:t>森马近3年品牌经营情况研究报告</a:t>
            </a:r>
            <a:endParaRPr lang="en-US" sz="4000" dirty="0"/>
          </a:p>
        </p:txBody>
      </p:sp>
      <p:sp>
        <p:nvSpPr>
          <p:cNvPr id="4" name="Text 2"/>
          <p:cNvSpPr/>
          <p:nvPr/>
        </p:nvSpPr>
        <p:spPr>
          <a:xfrm>
            <a:off x="822960" y="3840480"/>
            <a:ext cx="10515600" cy="548640"/>
          </a:xfrm>
          <a:prstGeom prst="rect">
            <a:avLst/>
          </a:prstGeom>
          <a:noFill/>
          <a:ln/>
        </p:spPr>
        <p:txBody>
          <a:bodyPr wrap="square" rtlCol="0" anchor="ctr"/>
          <a:lstStyle/>
          <a:p>
            <a:pPr indent="0" marL="0">
              <a:buNone/>
            </a:pPr>
            <a:r>
              <a:rPr lang="en-US" sz="1600" dirty="0">
                <a:solidFill>
                  <a:srgbClr val="5B6474"/>
                </a:solidFill>
              </a:rPr>
              <a:t>森马近3年品牌经营情况</a:t>
            </a:r>
            <a:endParaRPr lang="en-US" sz="1600" dirty="0"/>
          </a:p>
        </p:txBody>
      </p:sp>
      <p:sp>
        <p:nvSpPr>
          <p:cNvPr id="5" name="Text 3"/>
          <p:cNvSpPr/>
          <p:nvPr/>
        </p:nvSpPr>
        <p:spPr>
          <a:xfrm>
            <a:off x="822960" y="4846320"/>
            <a:ext cx="10515600" cy="1097280"/>
          </a:xfrm>
          <a:prstGeom prst="rect">
            <a:avLst/>
          </a:prstGeom>
          <a:noFill/>
          <a:ln/>
        </p:spPr>
        <p:txBody>
          <a:bodyPr wrap="square" rtlCol="0" anchor="ctr"/>
          <a:lstStyle/>
          <a:p>
            <a:pPr indent="0" marL="0">
              <a:lnSpc>
                <a:spcPct val="140000"/>
              </a:lnSpc>
              <a:buNone/>
            </a:pPr>
            <a:r>
              <a:rPr lang="en-US" sz="1300" dirty="0">
                <a:solidFill>
                  <a:srgbClr val="5B6474"/>
                </a:solidFill>
              </a:rPr>
              <a:t>v0 · 2026-10-04</a:t>
            </a:r>
            <a:endParaRPr lang="en-US" sz="1300" dirty="0"/>
          </a:p>
          <a:p>
            <a:pPr indent="0" marL="0">
              <a:lnSpc>
                <a:spcPct val="140000"/>
              </a:lnSpc>
              <a:buNone/>
            </a:pPr>
            <a:r>
              <a:rPr lang="en-US" sz="1300" dirty="0">
                <a:solidFill>
                  <a:srgbClr val="5B6474"/>
                </a:solidFill>
              </a:rPr>
              <a:t>有限交付(限制见文内披露)</a:t>
            </a:r>
            <a:endParaRPr lang="en-US" sz="1300" dirty="0"/>
          </a:p>
          <a:p>
            <a:pPr indent="0" marL="0">
              <a:lnSpc>
                <a:spcPct val="140000"/>
              </a:lnSpc>
              <a:buNone/>
            </a:pPr>
            <a:r>
              <a:rPr lang="en-US" sz="1300" dirty="0">
                <a:solidFill>
                  <a:srgbClr val="5B6474"/>
                </a:solidFill>
              </a:rPr>
              <a:t>主张 126 · 已核查 110 · 来源 11</a:t>
            </a:r>
            <a:endParaRPr lang="en-US" sz="1300" dirty="0"/>
          </a:p>
        </p:txBody>
      </p:sp>
      <p:sp>
        <p:nvSpPr>
          <p:cNvPr id="6" name="Shape 4"/>
          <p:cNvSpPr/>
          <p:nvPr/>
        </p:nvSpPr>
        <p:spPr>
          <a:xfrm>
            <a:off x="822960" y="1847088"/>
            <a:ext cx="548640" cy="54864"/>
          </a:xfrm>
          <a:prstGeom prst="rect">
            <a:avLst/>
          </a:prstGeom>
          <a:solidFill>
            <a:srgbClr val="1E4E8C"/>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22960" y="502920"/>
            <a:ext cx="10515600" cy="731520"/>
          </a:xfrm>
          <a:prstGeom prst="rect">
            <a:avLst/>
          </a:prstGeom>
          <a:noFill/>
          <a:ln/>
        </p:spPr>
        <p:txBody>
          <a:bodyPr wrap="square" rtlCol="0" anchor="ctr"/>
          <a:lstStyle/>
          <a:p>
            <a:pPr indent="0" marL="0">
              <a:buNone/>
            </a:pPr>
            <a:r>
              <a:rPr lang="en-US" sz="2800" b="1" dirty="0">
                <a:solidFill>
                  <a:srgbClr val="1A2233"/>
                </a:solidFill>
              </a:rPr>
              <a:t>摘要</a:t>
            </a:r>
            <a:endParaRPr lang="en-US" sz="2800" dirty="0"/>
          </a:p>
        </p:txBody>
      </p:sp>
      <p:sp>
        <p:nvSpPr>
          <p:cNvPr id="3" name="Text 1"/>
          <p:cNvSpPr/>
          <p:nvPr/>
        </p:nvSpPr>
        <p:spPr>
          <a:xfrm>
            <a:off x="914400" y="1554480"/>
            <a:ext cx="10332720" cy="4389120"/>
          </a:xfrm>
          <a:prstGeom prst="rect">
            <a:avLst/>
          </a:prstGeom>
          <a:noFill/>
          <a:ln/>
        </p:spPr>
        <p:txBody>
          <a:bodyPr wrap="square" rtlCol="0" anchor="ctr"/>
          <a:lstStyle/>
          <a:p>
            <a:pPr marL="342900" indent="-342900">
              <a:lnSpc>
                <a:spcPct val="150000"/>
              </a:lnSpc>
              <a:buSzPct val="100000"/>
              <a:buChar char="•"/>
            </a:pPr>
            <a:r>
              <a:rPr lang="en-US" sz="1600" dirty="0">
                <a:solidFill>
                  <a:srgbClr val="1A2233"/>
                </a:solidFill>
              </a:rPr>
              <a:t>童装业务持续担纲业绩压舱石：2024年儿童服饰板块营收102.68亿元、占总营收70.21%、同比增长9.55%，首度突破百亿；巴拉巴拉连续多年国内童装份额第一、欧睿国际口径下为亚洲童装销售额第一。</a:t>
            </a:r>
            <a:endParaRPr lang="en-US" sz="1600" dirty="0"/>
          </a:p>
          <a:p>
            <a:pPr marL="342900" indent="-342900">
              <a:lnSpc>
                <a:spcPct val="150000"/>
              </a:lnSpc>
              <a:buSzPct val="100000"/>
              <a:buChar char="•"/>
            </a:pPr>
            <a:r>
              <a:rPr lang="en-US" sz="1600" dirty="0">
                <a:solidFill>
                  <a:srgbClr val="1A2233"/>
                </a:solidFill>
              </a:rPr>
              <a:t>休闲服饰主品牌增长乏力：2024年森马休闲服饰收入41.90亿元、占比28.65%、同比仅+0.44%；2025年1-9月森马品牌零售额同比仅+2.72%，明显低于巴拉巴拉的+5.34%。</a:t>
            </a:r>
            <a:endParaRPr lang="en-US" sz="1600" dirty="0"/>
          </a:p>
          <a:p>
            <a:pPr marL="342900" indent="-342900">
              <a:lnSpc>
                <a:spcPct val="150000"/>
              </a:lnSpc>
              <a:buSzPct val="100000"/>
              <a:buChar char="•"/>
            </a:pPr>
            <a:r>
              <a:rPr lang="en-US" sz="1600" dirty="0">
                <a:solidFill>
                  <a:srgbClr val="1A2233"/>
                </a:solidFill>
              </a:rPr>
              <a:t>2025年前三季度出现"增收不增利"：1-9月营收同比+4.74%至98.44亿元，但净利润同比-28.9%至5.37亿元、扣非净利润-29.83%；销售费用同比+18.62%、研发+管理+销售三费合计同比+14.13%，远超营收增速；经营</a:t>
            </a:r>
            <a:endParaRPr lang="en-US" sz="1600" dirty="0"/>
          </a:p>
          <a:p>
            <a:pPr marL="342900" indent="-342900">
              <a:lnSpc>
                <a:spcPct val="150000"/>
              </a:lnSpc>
              <a:buSzPct val="100000"/>
              <a:buChar char="•"/>
            </a:pPr>
            <a:r>
              <a:rPr lang="en-US" sz="1600" dirty="0">
                <a:solidFill>
                  <a:srgbClr val="1A2233"/>
                </a:solidFill>
              </a:rPr>
              <a:t>渠道结构：线下加盟仍占8成以上、线上线下并行：截至2025年Q3门店8105家，加盟7046家(占比≈87%)、直营1027家、联营32家；2025年1-9月全渠道零售+6.29%(线上+2.92%、线下+7.9%)。</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品牌档案与近3年定位演变</a:t>
            </a:r>
            <a:endParaRPr lang="en-US" sz="2600" dirty="0"/>
          </a:p>
        </p:txBody>
      </p:sp>
      <p:sp>
        <p:nvSpPr>
          <p:cNvPr id="4" name="Text 2"/>
          <p:cNvSpPr/>
          <p:nvPr/>
        </p:nvSpPr>
        <p:spPr>
          <a:xfrm>
            <a:off x="822960" y="1600200"/>
            <a:ext cx="10515600" cy="457200"/>
          </a:xfrm>
          <a:prstGeom prst="rect">
            <a:avLst/>
          </a:prstGeom>
          <a:noFill/>
          <a:ln/>
        </p:spPr>
        <p:txBody>
          <a:bodyPr wrap="square" rtlCol="0" anchor="ctr"/>
          <a:lstStyle/>
          <a:p>
            <a:pPr indent="0" marL="0">
              <a:buNone/>
            </a:pPr>
            <a:r>
              <a:rPr lang="en-US" sz="1300" dirty="0">
                <a:solidFill>
                  <a:srgbClr val="5B6474"/>
                </a:solidFill>
              </a:rPr>
              <a:t>梳理品牌基本面及定位变化，回答品牌定位相关问题</a:t>
            </a:r>
            <a:endParaRPr lang="en-US" sz="1300" dirty="0"/>
          </a:p>
        </p:txBody>
      </p:sp>
      <p:sp>
        <p:nvSpPr>
          <p:cNvPr id="5" name="Text 3"/>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森马品牌基础档案：所属集团、创立背景、主营业务（成人休闲装+童装）、品牌发展沿革</a:t>
            </a:r>
            <a:endParaRPr lang="en-US" sz="1500" dirty="0"/>
          </a:p>
          <a:p>
            <a:pPr marL="342900" indent="-342900">
              <a:lnSpc>
                <a:spcPct val="150000"/>
              </a:lnSpc>
              <a:buSzPct val="100000"/>
              <a:buChar char="•"/>
            </a:pPr>
            <a:r>
              <a:rPr lang="en-US" sz="1500" dirty="0">
                <a:solidFill>
                  <a:srgbClr val="1A2233"/>
                </a:solidFill>
              </a:rPr>
              <a:t>近3年品牌定位调整轨迹：目标客群画像变化（如年轻化、家庭消费升级）、品牌形象升级动作、核心价值主张迭代</a:t>
            </a:r>
            <a:endParaRPr lang="en-US" sz="1500" dirty="0"/>
          </a:p>
          <a:p>
            <a:pPr marL="342900" indent="-342900">
              <a:lnSpc>
                <a:spcPct val="150000"/>
              </a:lnSpc>
              <a:buSzPct val="100000"/>
              <a:buChar char="•"/>
            </a:pPr>
            <a:r>
              <a:rPr lang="en-US" sz="1500" dirty="0">
                <a:solidFill>
                  <a:srgbClr val="1A2233"/>
                </a:solidFill>
              </a:rPr>
              <a:t>近3年重大战略事件时间线：品牌焕新、产品定位重塑、代言人/IP合作等关键节点对定位的影响</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产品价格带与定价策略分析</a:t>
            </a:r>
            <a:endParaRPr lang="en-US" sz="2600" dirty="0"/>
          </a:p>
        </p:txBody>
      </p:sp>
      <p:sp>
        <p:nvSpPr>
          <p:cNvPr id="4" name="Text 2"/>
          <p:cNvSpPr/>
          <p:nvPr/>
        </p:nvSpPr>
        <p:spPr>
          <a:xfrm>
            <a:off x="822960" y="1600200"/>
            <a:ext cx="10515600" cy="457200"/>
          </a:xfrm>
          <a:prstGeom prst="rect">
            <a:avLst/>
          </a:prstGeom>
          <a:noFill/>
          <a:ln/>
        </p:spPr>
        <p:txBody>
          <a:bodyPr wrap="square" rtlCol="0" anchor="ctr"/>
          <a:lstStyle/>
          <a:p>
            <a:pPr indent="0" marL="0">
              <a:buNone/>
            </a:pPr>
            <a:r>
              <a:rPr lang="en-US" sz="1300" dirty="0">
                <a:solidFill>
                  <a:srgbClr val="5B6474"/>
                </a:solidFill>
              </a:rPr>
              <a:t>回答价格带与定价策略相关问题</a:t>
            </a:r>
            <a:endParaRPr lang="en-US" sz="1300" dirty="0"/>
          </a:p>
        </p:txBody>
      </p:sp>
      <p:sp>
        <p:nvSpPr>
          <p:cNvPr id="5" name="Text 3"/>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近3年主要产品价格带分布（如休闲装、童装各价位段占比）及变化趋势</a:t>
            </a:r>
            <a:endParaRPr lang="en-US" sz="1500" dirty="0"/>
          </a:p>
          <a:p>
            <a:pPr marL="342900" indent="-342900">
              <a:lnSpc>
                <a:spcPct val="150000"/>
              </a:lnSpc>
              <a:buSzPct val="100000"/>
              <a:buChar char="•"/>
            </a:pPr>
            <a:r>
              <a:rPr lang="en-US" sz="1500" dirty="0">
                <a:solidFill>
                  <a:srgbClr val="1A2233"/>
                </a:solidFill>
              </a:rPr>
              <a:t>定价策略演变：性价比定位维持、提价/降价动作、折扣促销策略、与竞品的价格差异对比</a:t>
            </a:r>
            <a:endParaRPr lang="en-US" sz="1500" dirty="0"/>
          </a:p>
          <a:p>
            <a:pPr marL="342900" indent="-342900">
              <a:lnSpc>
                <a:spcPct val="150000"/>
              </a:lnSpc>
              <a:buSzPct val="100000"/>
              <a:buChar char="•"/>
            </a:pPr>
            <a:r>
              <a:rPr lang="en-US" sz="1500" dirty="0">
                <a:solidFill>
                  <a:srgbClr val="1A2233"/>
                </a:solidFill>
              </a:rPr>
              <a:t>客单价水平变化：整体客单价及分渠道/分品类客单价趋势，对比品类内外部参照</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全渠道布局与渠道表现</a:t>
            </a:r>
            <a:endParaRPr lang="en-US" sz="2600" dirty="0"/>
          </a:p>
        </p:txBody>
      </p:sp>
      <p:sp>
        <p:nvSpPr>
          <p:cNvPr id="4" name="Text 2"/>
          <p:cNvSpPr/>
          <p:nvPr/>
        </p:nvSpPr>
        <p:spPr>
          <a:xfrm>
            <a:off x="822960" y="1600200"/>
            <a:ext cx="10515600" cy="457200"/>
          </a:xfrm>
          <a:prstGeom prst="rect">
            <a:avLst/>
          </a:prstGeom>
          <a:noFill/>
          <a:ln/>
        </p:spPr>
        <p:txBody>
          <a:bodyPr wrap="square" rtlCol="0" anchor="ctr"/>
          <a:lstStyle/>
          <a:p>
            <a:pPr indent="0" marL="0">
              <a:buNone/>
            </a:pPr>
            <a:r>
              <a:rPr lang="en-US" sz="1300" dirty="0">
                <a:solidFill>
                  <a:srgbClr val="5B6474"/>
                </a:solidFill>
              </a:rPr>
              <a:t>覆盖线下门店、电商、社交零售等渠道表现</a:t>
            </a:r>
            <a:endParaRPr lang="en-US" sz="1300" dirty="0"/>
          </a:p>
        </p:txBody>
      </p:sp>
      <p:sp>
        <p:nvSpPr>
          <p:cNvPr id="5" name="Text 3"/>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线下渠道：近3年门店总数变化、购物中心/街铺/奥莱店等结构分布、关店与开店策略调整</a:t>
            </a:r>
            <a:endParaRPr lang="en-US" sz="1500" dirty="0"/>
          </a:p>
          <a:p>
            <a:pPr marL="342900" indent="-342900">
              <a:lnSpc>
                <a:spcPct val="150000"/>
              </a:lnSpc>
              <a:buSzPct val="100000"/>
              <a:buChar char="•"/>
            </a:pPr>
            <a:r>
              <a:rPr lang="en-US" sz="1500" dirty="0">
                <a:solidFill>
                  <a:srgbClr val="1A2233"/>
                </a:solidFill>
              </a:rPr>
              <a:t>线上电商渠道：天猫/京东/抖音/拼多多等平台店铺布局、线上销售额占比、爆品打造与电商运营策略</a:t>
            </a:r>
            <a:endParaRPr lang="en-US" sz="1500" dirty="0"/>
          </a:p>
          <a:p>
            <a:pPr marL="342900" indent="-342900">
              <a:lnSpc>
                <a:spcPct val="150000"/>
              </a:lnSpc>
              <a:buSzPct val="100000"/>
              <a:buChar char="•"/>
            </a:pPr>
            <a:r>
              <a:rPr lang="en-US" sz="1500" dirty="0">
                <a:solidFill>
                  <a:srgbClr val="1A2233"/>
                </a:solidFill>
              </a:rPr>
              <a:t>社交零售与新渠道：抖音/小红书/视频号内容种草、私域社群、直播带货等新兴渠道表现与贡献</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竞品格局与对标分析</a:t>
            </a:r>
            <a:endParaRPr lang="en-US" sz="2600" dirty="0"/>
          </a:p>
        </p:txBody>
      </p:sp>
      <p:sp>
        <p:nvSpPr>
          <p:cNvPr id="4" name="Text 2"/>
          <p:cNvSpPr/>
          <p:nvPr/>
        </p:nvSpPr>
        <p:spPr>
          <a:xfrm>
            <a:off x="822960" y="1600200"/>
            <a:ext cx="10515600" cy="457200"/>
          </a:xfrm>
          <a:prstGeom prst="rect">
            <a:avLst/>
          </a:prstGeom>
          <a:noFill/>
          <a:ln/>
        </p:spPr>
        <p:txBody>
          <a:bodyPr wrap="square" rtlCol="0" anchor="ctr"/>
          <a:lstStyle/>
          <a:p>
            <a:pPr indent="0" marL="0">
              <a:buNone/>
            </a:pPr>
            <a:r>
              <a:rPr lang="en-US" sz="1300" dirty="0">
                <a:solidFill>
                  <a:srgbClr val="5B6474"/>
                </a:solidFill>
              </a:rPr>
              <a:t>回答竞品识别与竞争格局问题</a:t>
            </a:r>
            <a:endParaRPr lang="en-US" sz="1300" dirty="0"/>
          </a:p>
        </p:txBody>
      </p:sp>
      <p:sp>
        <p:nvSpPr>
          <p:cNvPr id="5" name="Text 3"/>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主要竞品识别：成人装板块（优衣库、ZARA、海澜之家等）与童装板块（巴拉巴拉自身、戴维贝拉、安奈儿等）核心竞品清单</a:t>
            </a:r>
            <a:endParaRPr lang="en-US" sz="1500" dirty="0"/>
          </a:p>
          <a:p>
            <a:pPr marL="342900" indent="-342900">
              <a:lnSpc>
                <a:spcPct val="150000"/>
              </a:lnSpc>
              <a:buSzPct val="100000"/>
              <a:buChar char="•"/>
            </a:pPr>
            <a:r>
              <a:rPr lang="en-US" sz="1500" dirty="0">
                <a:solidFill>
                  <a:srgbClr val="1A2233"/>
                </a:solidFill>
              </a:rPr>
              <a:t>竞争格局对标：在目标人群重合度、价格带交叉、渠道布局重叠三个层面的直接与间接竞争关系</a:t>
            </a:r>
            <a:endParaRPr lang="en-US" sz="1500" dirty="0"/>
          </a:p>
          <a:p>
            <a:pPr marL="342900" indent="-342900">
              <a:lnSpc>
                <a:spcPct val="150000"/>
              </a:lnSpc>
              <a:buSzPct val="100000"/>
              <a:buChar char="•"/>
            </a:pPr>
            <a:r>
              <a:rPr lang="en-US" sz="1500" dirty="0">
                <a:solidFill>
                  <a:srgbClr val="1A2233"/>
                </a:solidFill>
              </a:rPr>
              <a:t>近3年竞争态势变化：竞品动作对森马的影响、森马应对策略及市场份额消长</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营销动作与Campaign效果评估</a:t>
            </a:r>
            <a:endParaRPr lang="en-US" sz="2600" dirty="0"/>
          </a:p>
        </p:txBody>
      </p:sp>
      <p:sp>
        <p:nvSpPr>
          <p:cNvPr id="4" name="Text 2"/>
          <p:cNvSpPr/>
          <p:nvPr/>
        </p:nvSpPr>
        <p:spPr>
          <a:xfrm>
            <a:off x="822960" y="1600200"/>
            <a:ext cx="10515600" cy="457200"/>
          </a:xfrm>
          <a:prstGeom prst="rect">
            <a:avLst/>
          </a:prstGeom>
          <a:noFill/>
          <a:ln/>
        </p:spPr>
        <p:txBody>
          <a:bodyPr wrap="square" rtlCol="0" anchor="ctr"/>
          <a:lstStyle/>
          <a:p>
            <a:pPr indent="0" marL="0">
              <a:buNone/>
            </a:pPr>
            <a:r>
              <a:rPr lang="en-US" sz="1300" dirty="0">
                <a:solidFill>
                  <a:srgbClr val="5B6474"/>
                </a:solidFill>
              </a:rPr>
              <a:t>梳理代言人、IP联名、营销campaign等营销动作</a:t>
            </a:r>
            <a:endParaRPr lang="en-US" sz="1300" dirty="0"/>
          </a:p>
        </p:txBody>
      </p:sp>
      <p:sp>
        <p:nvSpPr>
          <p:cNvPr id="5" name="Text 3"/>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代言人策略：近3年代言人选择与更换逻辑、代言人形象与品牌定位的契合度、代言带来的曝光与销售转化</a:t>
            </a:r>
            <a:endParaRPr lang="en-US" sz="1500" dirty="0"/>
          </a:p>
          <a:p>
            <a:pPr marL="342900" indent="-342900">
              <a:lnSpc>
                <a:spcPct val="150000"/>
              </a:lnSpc>
              <a:buSzPct val="100000"/>
              <a:buChar char="•"/>
            </a:pPr>
            <a:r>
              <a:rPr lang="en-US" sz="1500" dirty="0">
                <a:solidFill>
                  <a:srgbClr val="1A2233"/>
                </a:solidFill>
              </a:rPr>
              <a:t>IP联名合作：核心IP合作清单（动漫、潮牌、艺术家等）、联名产品销售表现、社交声量与品牌焕新效果</a:t>
            </a:r>
            <a:endParaRPr lang="en-US" sz="1500" dirty="0"/>
          </a:p>
          <a:p>
            <a:pPr marL="342900" indent="-342900">
              <a:lnSpc>
                <a:spcPct val="150000"/>
              </a:lnSpc>
              <a:buSzPct val="100000"/>
              <a:buChar char="•"/>
            </a:pPr>
            <a:r>
              <a:rPr lang="en-US" sz="1500" dirty="0">
                <a:solidFill>
                  <a:srgbClr val="1A2233"/>
                </a:solidFill>
              </a:rPr>
              <a:t>大型营销Campaign：年度主题营销节点（如双11、春节、换季）、品效合一效果、私域沉淀与会员增长贡献</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零售业务核心运营指标</a:t>
            </a:r>
            <a:endParaRPr lang="en-US" sz="2600" dirty="0"/>
          </a:p>
        </p:txBody>
      </p:sp>
      <p:sp>
        <p:nvSpPr>
          <p:cNvPr id="4" name="Text 2"/>
          <p:cNvSpPr/>
          <p:nvPr/>
        </p:nvSpPr>
        <p:spPr>
          <a:xfrm>
            <a:off x="822960" y="1600200"/>
            <a:ext cx="10515600" cy="457200"/>
          </a:xfrm>
          <a:prstGeom prst="rect">
            <a:avLst/>
          </a:prstGeom>
          <a:noFill/>
          <a:ln/>
        </p:spPr>
        <p:txBody>
          <a:bodyPr wrap="square" rtlCol="0" anchor="ctr"/>
          <a:lstStyle/>
          <a:p>
            <a:pPr indent="0" marL="0">
              <a:buNone/>
            </a:pPr>
            <a:r>
              <a:rPr lang="en-US" sz="1300" dirty="0">
                <a:solidFill>
                  <a:srgbClr val="5B6474"/>
                </a:solidFill>
              </a:rPr>
              <a:t>回答门店坪效、复购率、私域等零售指标问题</a:t>
            </a:r>
            <a:endParaRPr lang="en-US" sz="1300" dirty="0"/>
          </a:p>
        </p:txBody>
      </p:sp>
      <p:sp>
        <p:nvSpPr>
          <p:cNvPr id="5" name="Text 3"/>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门店运营效率：近3年门店坪效、人效、店均销售额、坪效同比变化及购物中心门店表现</a:t>
            </a:r>
            <a:endParaRPr lang="en-US" sz="1500" dirty="0"/>
          </a:p>
          <a:p>
            <a:pPr marL="342900" indent="-342900">
              <a:lnSpc>
                <a:spcPct val="150000"/>
              </a:lnSpc>
              <a:buSzPct val="100000"/>
              <a:buChar char="•"/>
            </a:pPr>
            <a:r>
              <a:rPr lang="en-US" sz="1500" dirty="0">
                <a:solidFill>
                  <a:srgbClr val="1A2233"/>
                </a:solidFill>
              </a:rPr>
              <a:t>会员与私域运营：会员总数与增长、新增会员来源、会员复购率、客单价提升策略、私域社群与小程序运营成效</a:t>
            </a:r>
            <a:endParaRPr lang="en-US" sz="1500" dirty="0"/>
          </a:p>
          <a:p>
            <a:pPr marL="342900" indent="-342900">
              <a:lnSpc>
                <a:spcPct val="150000"/>
              </a:lnSpc>
              <a:buSzPct val="100000"/>
              <a:buChar char="•"/>
            </a:pPr>
            <a:r>
              <a:rPr lang="en-US" sz="1500" dirty="0">
                <a:solidFill>
                  <a:srgbClr val="1A2233"/>
                </a:solidFill>
              </a:rPr>
              <a:t>全渠道零售转化：线上线下融合（O2O）情况、库存周转、连带率与品类交叉销售指标</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关键经营业绩与财务表现</a:t>
            </a:r>
            <a:endParaRPr lang="en-US" sz="2600" dirty="0"/>
          </a:p>
        </p:txBody>
      </p:sp>
      <p:sp>
        <p:nvSpPr>
          <p:cNvPr id="4" name="Text 2"/>
          <p:cNvSpPr/>
          <p:nvPr/>
        </p:nvSpPr>
        <p:spPr>
          <a:xfrm>
            <a:off x="822960" y="1600200"/>
            <a:ext cx="10515600" cy="457200"/>
          </a:xfrm>
          <a:prstGeom prst="rect">
            <a:avLst/>
          </a:prstGeom>
          <a:noFill/>
          <a:ln/>
        </p:spPr>
        <p:txBody>
          <a:bodyPr wrap="square" rtlCol="0" anchor="ctr"/>
          <a:lstStyle/>
          <a:p>
            <a:pPr indent="0" marL="0">
              <a:buNone/>
            </a:pPr>
            <a:r>
              <a:rPr lang="en-US" sz="1300" dirty="0">
                <a:solidFill>
                  <a:srgbClr val="5B6474"/>
                </a:solidFill>
              </a:rPr>
              <a:t>回答营收、利润、市占率等业绩问题</a:t>
            </a:r>
            <a:endParaRPr lang="en-US" sz="1300" dirty="0"/>
          </a:p>
        </p:txBody>
      </p:sp>
      <p:sp>
        <p:nvSpPr>
          <p:cNvPr id="5" name="Text 3"/>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近3年营收与利润：分年度营收、归母净利润、毛利率、净利率走势及品类（成人装/童装）拆分</a:t>
            </a:r>
            <a:endParaRPr lang="en-US" sz="1500" dirty="0"/>
          </a:p>
          <a:p>
            <a:pPr marL="342900" indent="-342900">
              <a:lnSpc>
                <a:spcPct val="150000"/>
              </a:lnSpc>
              <a:buSzPct val="100000"/>
              <a:buChar char="•"/>
            </a:pPr>
            <a:r>
              <a:rPr lang="en-US" sz="1500" dirty="0">
                <a:solidFill>
                  <a:srgbClr val="1A2233"/>
                </a:solidFill>
              </a:rPr>
              <a:t>收入结构变化：线上线下渠道收入占比、品类收入占比、区域收入分布</a:t>
            </a:r>
            <a:endParaRPr lang="en-US" sz="1500" dirty="0"/>
          </a:p>
          <a:p>
            <a:pPr marL="342900" indent="-342900">
              <a:lnSpc>
                <a:spcPct val="150000"/>
              </a:lnSpc>
              <a:buSzPct val="100000"/>
              <a:buChar char="•"/>
            </a:pPr>
            <a:r>
              <a:rPr lang="en-US" sz="1500" dirty="0">
                <a:solidFill>
                  <a:srgbClr val="1A2233"/>
                </a:solidFill>
              </a:rPr>
              <a:t>市占率与行业排名：近3年休闲装/童装细分领域市占率、电商平台排名、行业位次变化</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关键事件与影响因素复盘</a:t>
            </a:r>
            <a:endParaRPr lang="en-US" sz="2600" dirty="0"/>
          </a:p>
        </p:txBody>
      </p:sp>
      <p:sp>
        <p:nvSpPr>
          <p:cNvPr id="4" name="Text 2"/>
          <p:cNvSpPr/>
          <p:nvPr/>
        </p:nvSpPr>
        <p:spPr>
          <a:xfrm>
            <a:off x="822960" y="1600200"/>
            <a:ext cx="10515600" cy="457200"/>
          </a:xfrm>
          <a:prstGeom prst="rect">
            <a:avLst/>
          </a:prstGeom>
          <a:noFill/>
          <a:ln/>
        </p:spPr>
        <p:txBody>
          <a:bodyPr wrap="square" rtlCol="0" anchor="ctr"/>
          <a:lstStyle/>
          <a:p>
            <a:pPr indent="0" marL="0">
              <a:buNone/>
            </a:pPr>
            <a:r>
              <a:rPr lang="en-US" sz="1300" dirty="0">
                <a:solidFill>
                  <a:srgbClr val="5B6474"/>
                </a:solidFill>
              </a:rPr>
              <a:t>梳理影响经营的内外部重大事件</a:t>
            </a:r>
            <a:endParaRPr lang="en-US" sz="1300" dirty="0"/>
          </a:p>
        </p:txBody>
      </p:sp>
      <p:sp>
        <p:nvSpPr>
          <p:cNvPr id="5" name="Text 3"/>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外部宏观环境冲击：疫情对线下门店与供应链的影响、消费降级/升级趋势、原材料成本波动</a:t>
            </a:r>
            <a:endParaRPr lang="en-US" sz="1500" dirty="0"/>
          </a:p>
          <a:p>
            <a:pPr marL="342900" indent="-342900">
              <a:lnSpc>
                <a:spcPct val="150000"/>
              </a:lnSpc>
              <a:buSzPct val="100000"/>
              <a:buChar char="•"/>
            </a:pPr>
            <a:r>
              <a:rPr lang="en-US" sz="1500" dirty="0">
                <a:solidFill>
                  <a:srgbClr val="1A2233"/>
                </a:solidFill>
              </a:rPr>
              <a:t>内部战略转型事件：数字化转型推进、供应链与库存改革、组织架构调整、品牌焕新里程碑</a:t>
            </a:r>
            <a:endParaRPr lang="en-US" sz="1500" dirty="0"/>
          </a:p>
          <a:p>
            <a:pPr marL="342900" indent="-342900">
              <a:lnSpc>
                <a:spcPct val="150000"/>
              </a:lnSpc>
              <a:buSzPct val="100000"/>
              <a:buChar char="•"/>
            </a:pPr>
            <a:r>
              <a:rPr lang="en-US" sz="1500" dirty="0">
                <a:solidFill>
                  <a:srgbClr val="1A2233"/>
                </a:solidFill>
              </a:rPr>
              <a:t>业务板块动态：童装业务（巴拉巴拉）扩张与表现、海外业务探索、新品牌孵化或子品牌运作</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竞品对比表</a:t>
            </a:r>
            <a:endParaRPr lang="en-US" sz="2600" dirty="0"/>
          </a:p>
        </p:txBody>
      </p:sp>
      <p:sp>
        <p:nvSpPr>
          <p:cNvPr id="4" name="Text 2"/>
          <p:cNvSpPr/>
          <p:nvPr/>
        </p:nvSpPr>
        <p:spPr>
          <a:xfrm>
            <a:off x="822960" y="1600200"/>
            <a:ext cx="10515600" cy="457200"/>
          </a:xfrm>
          <a:prstGeom prst="rect">
            <a:avLst/>
          </a:prstGeom>
          <a:noFill/>
          <a:ln/>
        </p:spPr>
        <p:txBody>
          <a:bodyPr wrap="square" rtlCol="0" anchor="ctr"/>
          <a:lstStyle/>
          <a:p>
            <a:pPr indent="0" marL="0">
              <a:buNone/>
            </a:pPr>
            <a:r>
              <a:rPr lang="en-US" sz="1300" dirty="0">
                <a:solidFill>
                  <a:srgbClr val="5B6474"/>
                </a:solidFill>
              </a:rPr>
              <a:t>对比森马与主要竞品的多维度差异</a:t>
            </a:r>
            <a:endParaRPr lang="en-US" sz="1300" dirty="0"/>
          </a:p>
        </p:txBody>
      </p:sp>
      <p:sp>
        <p:nvSpPr>
          <p:cNvPr id="5" name="Text 3"/>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定位与价格对比：森马vs核心竞品的目标人群、价格带、品牌调性矩阵</a:t>
            </a:r>
            <a:endParaRPr lang="en-US" sz="1500" dirty="0"/>
          </a:p>
          <a:p>
            <a:pPr marL="342900" indent="-342900">
              <a:lnSpc>
                <a:spcPct val="150000"/>
              </a:lnSpc>
              <a:buSzPct val="100000"/>
              <a:buChar char="•"/>
            </a:pPr>
            <a:r>
              <a:rPr lang="en-US" sz="1500" dirty="0">
                <a:solidFill>
                  <a:srgbClr val="1A2233"/>
                </a:solidFill>
              </a:rPr>
              <a:t>渠道与营销对比：门店数量、电商布局、代言人/IP合作等维度横向对比</a:t>
            </a:r>
            <a:endParaRPr lang="en-US" sz="1500" dirty="0"/>
          </a:p>
          <a:p>
            <a:pPr marL="342900" indent="-342900">
              <a:lnSpc>
                <a:spcPct val="150000"/>
              </a:lnSpc>
              <a:buSzPct val="100000"/>
              <a:buChar char="•"/>
            </a:pPr>
            <a:r>
              <a:rPr lang="en-US" sz="1500" dirty="0">
                <a:solidFill>
                  <a:srgbClr val="1A2233"/>
                </a:solidFill>
              </a:rPr>
              <a:t>经营业绩对比：营收规模、净利率、市占率等关键指标的森马与竞品对比</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机会-风险-假设</a:t>
            </a:r>
            <a:endParaRPr lang="en-US" sz="2600" dirty="0"/>
          </a:p>
        </p:txBody>
      </p:sp>
      <p:sp>
        <p:nvSpPr>
          <p:cNvPr id="4" name="Text 2"/>
          <p:cNvSpPr/>
          <p:nvPr/>
        </p:nvSpPr>
        <p:spPr>
          <a:xfrm>
            <a:off x="822960" y="1600200"/>
            <a:ext cx="10515600" cy="457200"/>
          </a:xfrm>
          <a:prstGeom prst="rect">
            <a:avLst/>
          </a:prstGeom>
          <a:noFill/>
          <a:ln/>
        </p:spPr>
        <p:txBody>
          <a:bodyPr wrap="square" rtlCol="0" anchor="ctr"/>
          <a:lstStyle/>
          <a:p>
            <a:pPr indent="0" marL="0">
              <a:buNone/>
            </a:pPr>
            <a:r>
              <a:rPr lang="en-US" sz="1300" dirty="0">
                <a:solidFill>
                  <a:srgbClr val="5B6474"/>
                </a:solidFill>
              </a:rPr>
              <a:t>总结研究发现的机会、风险与待验证假设</a:t>
            </a:r>
            <a:endParaRPr lang="en-US" sz="1300" dirty="0"/>
          </a:p>
        </p:txBody>
      </p:sp>
      <p:sp>
        <p:nvSpPr>
          <p:cNvPr id="5" name="Text 3"/>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增长机会：品类延伸机会、渠道结构性机会（直播/奥莱）、品牌升级带来的客单价提升空间</a:t>
            </a:r>
            <a:endParaRPr lang="en-US" sz="1500" dirty="0"/>
          </a:p>
          <a:p>
            <a:pPr marL="342900" indent="-342900">
              <a:lnSpc>
                <a:spcPct val="150000"/>
              </a:lnSpc>
              <a:buSzPct val="100000"/>
              <a:buChar char="•"/>
            </a:pPr>
            <a:r>
              <a:rPr lang="en-US" sz="1500" dirty="0">
                <a:solidFill>
                  <a:srgbClr val="1A2233"/>
                </a:solidFill>
              </a:rPr>
              <a:t>潜在风险：竞品挤压风险、消费趋势变化风险、库存与渠道效率风险、单一品牌依赖风险</a:t>
            </a:r>
            <a:endParaRPr lang="en-US" sz="1500" dirty="0"/>
          </a:p>
          <a:p>
            <a:pPr marL="342900" indent="-342900">
              <a:lnSpc>
                <a:spcPct val="150000"/>
              </a:lnSpc>
              <a:buSzPct val="100000"/>
              <a:buChar char="•"/>
            </a:pPr>
            <a:r>
              <a:rPr lang="en-US" sz="1500" dirty="0">
                <a:solidFill>
                  <a:srgbClr val="1A2233"/>
                </a:solidFill>
              </a:rPr>
              <a:t>关键假设与待验证问题：业绩数据归因假设、消费者认知与定位匹配度假设、可持续增长动力假设</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执行摘要</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童装业务持续担纲业绩压舱石 ：2024年儿童服饰板块营收102.68亿元、占总营收70.21%、同比增长9.55%，首度突破百亿；</a:t>
            </a:r>
            <a:endParaRPr lang="en-US" sz="1500" dirty="0"/>
          </a:p>
          <a:p>
            <a:pPr marL="342900" indent="-342900">
              <a:lnSpc>
                <a:spcPct val="150000"/>
              </a:lnSpc>
              <a:buSzPct val="100000"/>
              <a:buChar char="•"/>
            </a:pPr>
            <a:r>
              <a:rPr lang="en-US" sz="1500" dirty="0">
                <a:solidFill>
                  <a:srgbClr val="1A2233"/>
                </a:solidFill>
              </a:rPr>
              <a:t>巴拉巴拉连续多年国内童装份额第一、欧睿国际口径下为亚洲童装销售额第一。</a:t>
            </a:r>
            <a:endParaRPr lang="en-US" sz="1500" dirty="0"/>
          </a:p>
          <a:p>
            <a:pPr marL="342900" indent="-342900">
              <a:lnSpc>
                <a:spcPct val="150000"/>
              </a:lnSpc>
              <a:buSzPct val="100000"/>
              <a:buChar char="•"/>
            </a:pPr>
            <a:r>
              <a:rPr lang="en-US" sz="1500" dirty="0">
                <a:solidFill>
                  <a:srgbClr val="1A2233"/>
                </a:solidFill>
              </a:rPr>
              <a:t>休闲服饰主品牌增长乏力 ：2024年森马休闲服饰收入41.90亿元、占比28.65%、同比仅+0.44%；</a:t>
            </a:r>
            <a:endParaRPr lang="en-US" sz="1500" dirty="0"/>
          </a:p>
          <a:p>
            <a:pPr marL="342900" indent="-342900">
              <a:lnSpc>
                <a:spcPct val="150000"/>
              </a:lnSpc>
              <a:buSzPct val="100000"/>
              <a:buChar char="•"/>
            </a:pPr>
            <a:r>
              <a:rPr lang="en-US" sz="1500" dirty="0">
                <a:solidFill>
                  <a:srgbClr val="1A2233"/>
                </a:solidFill>
              </a:rPr>
              <a:t>2025年1-9月森马品牌零售额同比仅+2.72%，明显低于巴拉巴拉的+5.34%。</a:t>
            </a:r>
            <a:endParaRPr lang="en-US" sz="1500" dirty="0"/>
          </a:p>
          <a:p>
            <a:pPr marL="342900" indent="-342900">
              <a:lnSpc>
                <a:spcPct val="150000"/>
              </a:lnSpc>
              <a:buSzPct val="100000"/>
              <a:buChar char="•"/>
            </a:pPr>
            <a:r>
              <a:rPr lang="en-US" sz="1500" dirty="0">
                <a:solidFill>
                  <a:srgbClr val="1A2233"/>
                </a:solidFill>
              </a:rPr>
              <a:t>2025年前三季度出现&amp;quot;</a:t>
            </a:r>
            <a:endParaRPr lang="en-US" sz="1500" dirty="0"/>
          </a:p>
          <a:p>
            <a:pPr marL="342900" indent="-342900">
              <a:lnSpc>
                <a:spcPct val="150000"/>
              </a:lnSpc>
              <a:buSzPct val="100000"/>
              <a:buChar char="•"/>
            </a:pPr>
            <a:r>
              <a:rPr lang="en-US" sz="1500" dirty="0">
                <a:solidFill>
                  <a:srgbClr val="1A2233"/>
                </a:solidFill>
              </a:rPr>
              <a:t>增收不增利&amp;quot;</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1.1 品牌基础档案</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森马（Semir）由邱光和创立于1996年12月18日，所属集团为浙江森马服饰股份有限公司（A股代码002563）。</a:t>
            </a:r>
            <a:endParaRPr lang="en-US" sz="1500" dirty="0"/>
          </a:p>
          <a:p>
            <a:pPr marL="342900" indent="-342900">
              <a:lnSpc>
                <a:spcPct val="150000"/>
              </a:lnSpc>
              <a:buSzPct val="100000"/>
              <a:buChar char="•"/>
            </a:pPr>
            <a:r>
              <a:rPr lang="en-US" sz="1500" dirty="0">
                <a:solidFill>
                  <a:srgbClr val="1A2233"/>
                </a:solidFill>
              </a:rPr>
              <a:t>公司采用&amp;quot;</a:t>
            </a:r>
            <a:endParaRPr lang="en-US" sz="1500" dirty="0"/>
          </a:p>
          <a:p>
            <a:pPr marL="342900" indent="-342900">
              <a:lnSpc>
                <a:spcPct val="150000"/>
              </a:lnSpc>
              <a:buSzPct val="100000"/>
              <a:buChar char="•"/>
            </a:pPr>
            <a:r>
              <a:rPr lang="en-US" sz="1500" dirty="0">
                <a:solidFill>
                  <a:srgbClr val="1A2233"/>
                </a:solidFill>
              </a:rPr>
              <a:t>轻资产&amp;quot;</a:t>
            </a:r>
            <a:endParaRPr lang="en-US" sz="1500" dirty="0"/>
          </a:p>
          <a:p>
            <a:pPr marL="342900" indent="-342900">
              <a:lnSpc>
                <a:spcPct val="150000"/>
              </a:lnSpc>
              <a:buSzPct val="100000"/>
              <a:buChar char="•"/>
            </a:pPr>
            <a:r>
              <a:rPr lang="en-US" sz="1500" dirty="0">
                <a:solidFill>
                  <a:srgbClr val="1A2233"/>
                </a:solidFill>
              </a:rPr>
              <a:t>模式，所有服装外包代工生产，以特许加盟为主，加盟、联营与直营相结合。</a:t>
            </a:r>
            <a:endParaRPr lang="en-US" sz="1500" dirty="0"/>
          </a:p>
          <a:p>
            <a:pPr marL="342900" indent="-342900">
              <a:lnSpc>
                <a:spcPct val="150000"/>
              </a:lnSpc>
              <a:buSzPct val="100000"/>
              <a:buChar char="•"/>
            </a:pPr>
            <a:r>
              <a:rPr lang="en-US" sz="1500" dirty="0">
                <a:solidFill>
                  <a:srgbClr val="1A2233"/>
                </a:solidFill>
              </a:rPr>
              <a:t>公司形成&amp;quot;</a:t>
            </a:r>
            <a:endParaRPr lang="en-US" sz="1500" dirty="0"/>
          </a:p>
          <a:p>
            <a:pPr marL="342900" indent="-342900">
              <a:lnSpc>
                <a:spcPct val="150000"/>
              </a:lnSpc>
              <a:buSzPct val="100000"/>
              <a:buChar char="•"/>
            </a:pPr>
            <a:r>
              <a:rPr lang="en-US" sz="1500" dirty="0">
                <a:solidFill>
                  <a:srgbClr val="1A2233"/>
                </a:solidFill>
              </a:rPr>
              <a:t>2+N&amp;quot;</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1.2 近3年定位调整轨迹</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时间  调整方向  关键证据      2023年起  主品牌定位从&amp;quot;</a:t>
            </a:r>
            <a:endParaRPr lang="en-US" sz="1500" dirty="0"/>
          </a:p>
          <a:p>
            <a:pPr marL="342900" indent="-342900">
              <a:lnSpc>
                <a:spcPct val="150000"/>
              </a:lnSpc>
              <a:buSzPct val="100000"/>
              <a:buChar char="•"/>
            </a:pPr>
            <a:r>
              <a:rPr lang="en-US" sz="1500" dirty="0">
                <a:solidFill>
                  <a:srgbClr val="1A2233"/>
                </a:solidFill>
              </a:rPr>
              <a:t>年轻时尚&amp;quot;</a:t>
            </a:r>
            <a:endParaRPr lang="en-US" sz="1500" dirty="0"/>
          </a:p>
          <a:p>
            <a:pPr marL="342900" indent="-342900">
              <a:lnSpc>
                <a:spcPct val="150000"/>
              </a:lnSpc>
              <a:buSzPct val="100000"/>
              <a:buChar char="•"/>
            </a:pPr>
            <a:r>
              <a:rPr lang="en-US" sz="1500" dirty="0">
                <a:solidFill>
                  <a:srgbClr val="1A2233"/>
                </a:solidFill>
              </a:rPr>
              <a:t>升级为&amp;quot;</a:t>
            </a:r>
            <a:endParaRPr lang="en-US" sz="1500" dirty="0"/>
          </a:p>
          <a:p>
            <a:pPr marL="342900" indent="-342900">
              <a:lnSpc>
                <a:spcPct val="150000"/>
              </a:lnSpc>
              <a:buSzPct val="100000"/>
              <a:buChar char="•"/>
            </a:pPr>
            <a:r>
              <a:rPr lang="en-US" sz="1500" dirty="0">
                <a:solidFill>
                  <a:srgbClr val="1A2233"/>
                </a:solidFill>
              </a:rPr>
              <a:t>国民品质&amp;quot;</a:t>
            </a:r>
            <a:endParaRPr lang="en-US" sz="1500" dirty="0"/>
          </a:p>
          <a:p>
            <a:pPr marL="342900" indent="-342900">
              <a:lnSpc>
                <a:spcPct val="150000"/>
              </a:lnSpc>
              <a:buSzPct val="100000"/>
              <a:buChar char="•"/>
            </a:pPr>
            <a:r>
              <a:rPr lang="en-US" sz="1500" dirty="0">
                <a:solidFill>
                  <a:srgbClr val="1A2233"/>
                </a:solidFill>
              </a:rPr>
              <a:t>，slogan转向&amp;quot;</a:t>
            </a:r>
            <a:endParaRPr lang="en-US" sz="1500" dirty="0"/>
          </a:p>
          <a:p>
            <a:pPr marL="342900" indent="-342900">
              <a:lnSpc>
                <a:spcPct val="150000"/>
              </a:lnSpc>
              <a:buSzPct val="100000"/>
              <a:buChar char="•"/>
            </a:pPr>
            <a:r>
              <a:rPr lang="en-US" sz="1500" dirty="0">
                <a:solidFill>
                  <a:srgbClr val="1A2233"/>
                </a:solidFill>
              </a:rPr>
              <a:t>舒服体验、品质生活&amp;quot;</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1.3 关键时间线节点</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2017年：巴拉巴拉营收首超森马休闲，占比52.56%，童装成为第一引擎。</a:t>
            </a:r>
            <a:endParaRPr lang="en-US" sz="1500" dirty="0"/>
          </a:p>
          <a:p>
            <a:pPr marL="342900" indent="-342900">
              <a:lnSpc>
                <a:spcPct val="150000"/>
              </a:lnSpc>
              <a:buSzPct val="100000"/>
              <a:buChar char="•"/>
            </a:pPr>
            <a:r>
              <a:rPr lang="en-US" sz="1500" dirty="0">
                <a:solidFill>
                  <a:srgbClr val="1A2233"/>
                </a:solidFill>
              </a:rPr>
              <a:t>2019年：集团营收触顶193.37亿元、归母净利润16.94亿元，为近年最高。</a:t>
            </a:r>
            <a:endParaRPr lang="en-US" sz="1500" dirty="0"/>
          </a:p>
          <a:p>
            <a:pPr marL="342900" indent="-342900">
              <a:lnSpc>
                <a:spcPct val="150000"/>
              </a:lnSpc>
              <a:buSzPct val="100000"/>
              <a:buChar char="•"/>
            </a:pPr>
            <a:r>
              <a:rPr lang="en-US" sz="1500" dirty="0">
                <a:solidFill>
                  <a:srgbClr val="1A2233"/>
                </a:solidFill>
              </a:rPr>
              <a:t>2022年：营收降至133.31亿元、归母净利润降至6.37亿元，为近5年低点。</a:t>
            </a:r>
            <a:endParaRPr lang="en-US" sz="1500" dirty="0"/>
          </a:p>
          <a:p>
            <a:pPr marL="342900" indent="-342900">
              <a:lnSpc>
                <a:spcPct val="150000"/>
              </a:lnSpc>
              <a:buSzPct val="100000"/>
              <a:buChar char="•"/>
            </a:pPr>
            <a:r>
              <a:rPr lang="en-US" sz="1500" dirty="0">
                <a:solidFill>
                  <a:srgbClr val="1A2233"/>
                </a:solidFill>
              </a:rPr>
              <a:t>2023年：童装营收93.73亿元、占比68.61%；</a:t>
            </a:r>
            <a:endParaRPr lang="en-US" sz="1500" dirty="0"/>
          </a:p>
          <a:p>
            <a:pPr marL="342900" indent="-342900">
              <a:lnSpc>
                <a:spcPct val="150000"/>
              </a:lnSpc>
              <a:buSzPct val="100000"/>
              <a:buChar char="•"/>
            </a:pPr>
            <a:r>
              <a:rPr lang="en-US" sz="1500" dirty="0">
                <a:solidFill>
                  <a:srgbClr val="1A2233"/>
                </a:solidFill>
              </a:rPr>
              <a:t>集团业绩回升；</a:t>
            </a:r>
            <a:endParaRPr lang="en-US" sz="1500" dirty="0"/>
          </a:p>
          <a:p>
            <a:pPr marL="342900" indent="-342900">
              <a:lnSpc>
                <a:spcPct val="150000"/>
              </a:lnSpc>
              <a:buSzPct val="100000"/>
              <a:buChar char="•"/>
            </a:pPr>
            <a:r>
              <a:rPr lang="en-US" sz="1500" dirty="0">
                <a:solidFill>
                  <a:srgbClr val="1A2233"/>
                </a:solidFill>
              </a:rPr>
              <a:t>邱坚强接班。</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2.1 主要产品价格带</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品类  产品/价格带  口径与来源      巴拉巴拉儿童羽绒服  线下主力700-800元，最高超1000元  财中社2024年报道，部分产品售价超过森马成人羽绒服    巴拉巴拉主力童装  价盘150-200元  刻度财经援引华源证券口</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2.2 定价策略演变与折扣行为</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近3年价格策略呈现&amp;quot;</a:t>
            </a:r>
            <a:endParaRPr lang="en-US" sz="1500" dirty="0"/>
          </a:p>
          <a:p>
            <a:pPr marL="342900" indent="-342900">
              <a:lnSpc>
                <a:spcPct val="150000"/>
              </a:lnSpc>
              <a:buSzPct val="100000"/>
              <a:buChar char="•"/>
            </a:pPr>
            <a:r>
              <a:rPr lang="en-US" sz="1500" dirty="0">
                <a:solidFill>
                  <a:srgbClr val="1A2233"/>
                </a:solidFill>
              </a:rPr>
              <a:t>主线稳价、尾货深折&amp;quot;</a:t>
            </a:r>
            <a:endParaRPr lang="en-US" sz="1500" dirty="0"/>
          </a:p>
          <a:p>
            <a:pPr marL="342900" indent="-342900">
              <a:lnSpc>
                <a:spcPct val="150000"/>
              </a:lnSpc>
              <a:buSzPct val="100000"/>
              <a:buChar char="•"/>
            </a:pPr>
            <a:r>
              <a:rPr lang="en-US" sz="1500" dirty="0">
                <a:solidFill>
                  <a:srgbClr val="1A2233"/>
                </a:solidFill>
              </a:rPr>
              <a:t>两条路径： </a:t>
            </a:r>
            <a:endParaRPr lang="en-US" sz="1500" dirty="0"/>
          </a:p>
          <a:p>
            <a:pPr marL="342900" indent="-342900">
              <a:lnSpc>
                <a:spcPct val="150000"/>
              </a:lnSpc>
              <a:buSzPct val="100000"/>
              <a:buChar char="•"/>
            </a:pPr>
            <a:r>
              <a:rPr lang="en-US" sz="1500" dirty="0">
                <a:solidFill>
                  <a:srgbClr val="1A2233"/>
                </a:solidFill>
              </a:rPr>
              <a:t>   主线 ：成人休闲定位&amp;quot;</a:t>
            </a:r>
            <a:endParaRPr lang="en-US" sz="1500" dirty="0"/>
          </a:p>
          <a:p>
            <a:pPr marL="342900" indent="-342900">
              <a:lnSpc>
                <a:spcPct val="150000"/>
              </a:lnSpc>
              <a:buSzPct val="100000"/>
              <a:buChar char="•"/>
            </a:pPr>
            <a:r>
              <a:rPr lang="en-US" sz="1500" dirty="0">
                <a:solidFill>
                  <a:srgbClr val="1A2233"/>
                </a:solidFill>
              </a:rPr>
              <a:t>高质价比&amp;quot;</a:t>
            </a:r>
            <a:endParaRPr lang="en-US" sz="1500" dirty="0"/>
          </a:p>
          <a:p>
            <a:pPr marL="342900" indent="-342900">
              <a:lnSpc>
                <a:spcPct val="150000"/>
              </a:lnSpc>
              <a:buSzPct val="100000"/>
              <a:buChar char="•"/>
            </a:pPr>
            <a:r>
              <a:rPr lang="en-US" sz="1500" dirty="0">
                <a:solidFill>
                  <a:srgbClr val="1A2233"/>
                </a:solidFill>
              </a:rPr>
              <a:t>、童装锁定中产家庭儿童消费，2024年儿童服饰毛利率47.3%、成人休闲毛利率35.5%(财中社)，2025H1儿童服饰毛利率48.21%、休闲服饰43.22%(华源证券)——儿童毛利率呈抬升趋势、且显著高于成人线。</a:t>
            </a:r>
            <a:endParaRPr lang="en-US" sz="1500" dirty="0"/>
          </a:p>
          <a:p>
            <a:pPr marL="342900" indent="-342900">
              <a:lnSpc>
                <a:spcPct val="150000"/>
              </a:lnSpc>
              <a:buSzPct val="100000"/>
              <a:buChar char="•"/>
            </a:pPr>
            <a:r>
              <a:rPr lang="en-US" sz="1500" dirty="0">
                <a:solidFill>
                  <a:srgbClr val="1A2233"/>
                </a:solidFill>
              </a:rPr>
              <a:t>尾货折扣 ：电商Outlets店铺最低折扣约1折(财中社)；</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2.3 客单价与单店产出(以2024年为截面)</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维度  直营店  加盟店      单店收入  158万元，同比-21.7%  84万元，同比+3.7%    平均面积  205平米  182平米    年坪效  7,711元，同比-18.2%  4,593元，同比+3.8%    </a:t>
            </a:r>
            <a:endParaRPr lang="en-US" sz="1500" dirty="0"/>
          </a:p>
          <a:p>
            <a:pPr marL="342900" indent="-342900">
              <a:lnSpc>
                <a:spcPct val="150000"/>
              </a:lnSpc>
              <a:buSzPct val="100000"/>
              <a:buChar char="•"/>
            </a:pPr>
            <a:r>
              <a:rPr lang="en-US" sz="1500" dirty="0">
                <a:solidFill>
                  <a:srgbClr val="1A2233"/>
                </a:solidFill>
              </a:rPr>
              <a:t> </a:t>
            </a:r>
            <a:endParaRPr lang="en-US" sz="1500" dirty="0"/>
          </a:p>
          <a:p>
            <a:pPr marL="342900" indent="-342900">
              <a:lnSpc>
                <a:spcPct val="150000"/>
              </a:lnSpc>
              <a:buSzPct val="100000"/>
              <a:buChar char="•"/>
            </a:pPr>
            <a:r>
              <a:rPr lang="en-US" sz="1500" dirty="0">
                <a:solidFill>
                  <a:srgbClr val="1A2233"/>
                </a:solidFill>
              </a:rPr>
              <a:t>每50-100平米配1-2名销售&amp;quot;</a:t>
            </a:r>
            <a:endParaRPr lang="en-US" sz="1500" dirty="0"/>
          </a:p>
          <a:p>
            <a:pPr marL="342900" indent="-342900">
              <a:lnSpc>
                <a:spcPct val="150000"/>
              </a:lnSpc>
              <a:buSzPct val="100000"/>
              <a:buChar char="•"/>
            </a:pPr>
            <a:r>
              <a:rPr lang="en-US" sz="1500" dirty="0">
                <a:solidFill>
                  <a:srgbClr val="1A2233"/>
                </a:solidFill>
              </a:rPr>
              <a:t>的标准与35-47%毛利率，2024年加盟商仍承受一定经营压力(财中社推断)。</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3.1 线下渠道：门店结构与扩张节奏</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节点  总门店数  森马(成人)  巴拉巴拉(童装)  净增      2024年末  8,325家  2,811家  5,514家  +388    2025年Q3末  8,105家  2,752家  5,353家  (Q4前收缩)   </a:t>
            </a:r>
            <a:endParaRPr lang="en-US" sz="1500" dirty="0"/>
          </a:p>
          <a:p>
            <a:pPr marL="342900" indent="-342900">
              <a:lnSpc>
                <a:spcPct val="150000"/>
              </a:lnSpc>
              <a:buSzPct val="100000"/>
              <a:buChar char="•"/>
            </a:pPr>
            <a:r>
              <a:rPr lang="en-US" sz="1500" dirty="0">
                <a:solidFill>
                  <a:srgbClr val="1A2233"/>
                </a:solidFill>
              </a:rPr>
              <a:t>80%。</a:t>
            </a:r>
            <a:endParaRPr lang="en-US" sz="1500" dirty="0"/>
          </a:p>
          <a:p>
            <a:pPr marL="342900" indent="-342900">
              <a:lnSpc>
                <a:spcPct val="150000"/>
              </a:lnSpc>
              <a:buSzPct val="100000"/>
              <a:buChar char="•"/>
            </a:pPr>
            <a:r>
              <a:rPr lang="en-US" sz="1500" dirty="0">
                <a:solidFill>
                  <a:srgbClr val="1A2233"/>
                </a:solidFill>
              </a:rPr>
              <a:t>业态升级 ：从低成本街边店向购物中心、奥莱迁移，2024年起推标准化门店模型(300㎡标准店、500㎡形象店、800㎡+旗舰店)。</a:t>
            </a:r>
            <a:endParaRPr lang="en-US" sz="1500" dirty="0"/>
          </a:p>
          <a:p>
            <a:pPr marL="342900" indent="-342900">
              <a:lnSpc>
                <a:spcPct val="150000"/>
              </a:lnSpc>
              <a:buSzPct val="100000"/>
              <a:buChar char="•"/>
            </a:pPr>
            <a:r>
              <a:rPr lang="en-US" sz="1500" dirty="0">
                <a:solidFill>
                  <a:srgbClr val="1A2233"/>
                </a:solidFill>
              </a:rPr>
              <a:t>门店落位质量 ：截至2025年11月底，新增门店超80%进驻一至三线城市；</a:t>
            </a:r>
            <a:endParaRPr lang="en-US" sz="1500" dirty="0"/>
          </a:p>
          <a:p>
            <a:pPr marL="342900" indent="-342900">
              <a:lnSpc>
                <a:spcPct val="150000"/>
              </a:lnSpc>
              <a:buSzPct val="100000"/>
              <a:buChar char="•"/>
            </a:pPr>
            <a:r>
              <a:rPr lang="en-US" sz="1500" dirty="0">
                <a:solidFill>
                  <a:srgbClr val="1A2233"/>
                </a:solidFill>
              </a:rPr>
              <a:t>全国标杆项目F1落位占比30.56%。</a:t>
            </a:r>
            <a:endParaRPr lang="en-US" sz="1500" dirty="0"/>
          </a:p>
          <a:p>
            <a:pPr marL="342900" indent="-342900">
              <a:lnSpc>
                <a:spcPct val="150000"/>
              </a:lnSpc>
              <a:buSzPct val="100000"/>
              <a:buChar char="•"/>
            </a:pPr>
            <a:r>
              <a:rPr lang="en-US" sz="1500" dirty="0">
                <a:solidFill>
                  <a:srgbClr val="1A2233"/>
                </a:solidFill>
              </a:rPr>
              <a:t>海外业务 ：2024年新开30+家，覆盖新加坡、马来西亚、越南、蒙古、约旦，海外门店总数突破100家。</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3.2 线上渠道：电商、直播、社交零售</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维度  2024年  2025年1-9月      线上销售收入  66.72亿元(+7.14%)  全渠道线上零售+2.92%    线下销售收入  77.86亿元(+6.42%)  全渠道线下零售+7.9%    线上占整体收入  ≈4</a:t>
            </a:r>
            <a:endParaRPr lang="en-US" sz="1500" dirty="0"/>
          </a:p>
          <a:p>
            <a:pPr marL="342900" indent="-342900">
              <a:lnSpc>
                <a:spcPct val="150000"/>
              </a:lnSpc>
              <a:buSzPct val="100000"/>
              <a:buChar char="•"/>
            </a:pPr>
            <a:r>
              <a:rPr lang="en-US" sz="1500" dirty="0">
                <a:solidFill>
                  <a:srgbClr val="1A2233"/>
                </a:solidFill>
              </a:rPr>
              <a:t>直播业务 ：旗下直播事业部&amp;quot;</a:t>
            </a:r>
            <a:endParaRPr lang="en-US" sz="1500" dirty="0"/>
          </a:p>
          <a:p>
            <a:pPr marL="342900" indent="-342900">
              <a:lnSpc>
                <a:spcPct val="150000"/>
              </a:lnSpc>
              <a:buSzPct val="100000"/>
              <a:buChar char="•"/>
            </a:pPr>
            <a:r>
              <a:rPr lang="en-US" sz="1500" dirty="0">
                <a:solidFill>
                  <a:srgbClr val="1A2233"/>
                </a:solidFill>
              </a:rPr>
              <a:t>我嘉业务&amp;quot;</a:t>
            </a:r>
            <a:endParaRPr lang="en-US" sz="1500" dirty="0"/>
          </a:p>
          <a:p>
            <a:pPr marL="342900" indent="-342900">
              <a:lnSpc>
                <a:spcPct val="150000"/>
              </a:lnSpc>
              <a:buSzPct val="100000"/>
              <a:buChar char="•"/>
            </a:pPr>
            <a:r>
              <a:rPr lang="en-US" sz="1500" dirty="0">
                <a:solidFill>
                  <a:srgbClr val="1A2233"/>
                </a:solidFill>
              </a:rPr>
              <a:t>2024年首次大场销售超5,800万元；</a:t>
            </a:r>
            <a:endParaRPr lang="en-US" sz="1500" dirty="0"/>
          </a:p>
          <a:p>
            <a:pPr marL="342900" indent="-342900">
              <a:lnSpc>
                <a:spcPct val="150000"/>
              </a:lnSpc>
              <a:buSzPct val="100000"/>
              <a:buChar char="•"/>
            </a:pPr>
            <a:r>
              <a:rPr lang="en-US" sz="1500" dirty="0">
                <a:solidFill>
                  <a:srgbClr val="1A2233"/>
                </a:solidFill>
              </a:rPr>
              <a:t>亲子时尚平台为品牌和B端商家提供直播/短视频/货架电商代运营服务。</a:t>
            </a:r>
            <a:endParaRPr lang="en-US" sz="1500" dirty="0"/>
          </a:p>
          <a:p>
            <a:pPr marL="342900" indent="-342900">
              <a:lnSpc>
                <a:spcPct val="150000"/>
              </a:lnSpc>
              <a:buSzPct val="100000"/>
              <a:buChar char="•"/>
            </a:pPr>
            <a:r>
              <a:rPr lang="en-US" sz="1500" dirty="0">
                <a:solidFill>
                  <a:srgbClr val="1A2233"/>
                </a:solidFill>
              </a:rPr>
              <a:t>社交零售 ：通过小红书、视频号、公众号叙事；</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3.3 渠道演进小结</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渠道策略可概括为&amp;quot;</a:t>
            </a:r>
            <a:endParaRPr lang="en-US" sz="1500" dirty="0"/>
          </a:p>
          <a:p>
            <a:pPr marL="342900" indent="-342900">
              <a:lnSpc>
                <a:spcPct val="150000"/>
              </a:lnSpc>
              <a:buSzPct val="100000"/>
              <a:buChar char="•"/>
            </a:pPr>
            <a:r>
              <a:rPr lang="en-US" sz="1500" dirty="0">
                <a:solidFill>
                  <a:srgbClr val="1A2233"/>
                </a:solidFill>
              </a:rPr>
              <a:t>线下做升级、线上做增长、加盟做扩张、直营做形象、海外做探索&amp;quot;</a:t>
            </a:r>
            <a:endParaRPr lang="en-US" sz="1500" dirty="0"/>
          </a:p>
          <a:p>
            <a:pPr marL="342900" indent="-342900">
              <a:lnSpc>
                <a:spcPct val="150000"/>
              </a:lnSpc>
              <a:buSzPct val="100000"/>
              <a:buChar char="•"/>
            </a:pPr>
            <a:r>
              <a:rPr lang="en-US" sz="1500" dirty="0">
                <a:solidFill>
                  <a:srgbClr val="1A2233"/>
                </a:solidFill>
              </a:rPr>
              <a:t>： </a:t>
            </a:r>
            <a:endParaRPr lang="en-US" sz="1500" dirty="0"/>
          </a:p>
          <a:p>
            <a:pPr marL="342900" indent="-342900">
              <a:lnSpc>
                <a:spcPct val="150000"/>
              </a:lnSpc>
              <a:buSzPct val="100000"/>
              <a:buChar char="•"/>
            </a:pPr>
            <a:r>
              <a:rPr lang="en-US" sz="1500" dirty="0">
                <a:solidFill>
                  <a:srgbClr val="1A2233"/>
                </a:solidFill>
              </a:rPr>
              <a:t>  线下从销售点位转向产品场景化展示与体验中心，2026年拟开30家城市旗舰店+2-3家全球旗舰店(森马副总裁钟德达口径)。</a:t>
            </a:r>
            <a:endParaRPr lang="en-US" sz="1500" dirty="0"/>
          </a:p>
          <a:p>
            <a:pPr marL="342900" indent="-342900">
              <a:lnSpc>
                <a:spcPct val="150000"/>
              </a:lnSpc>
              <a:buSzPct val="100000"/>
              <a:buChar char="•"/>
            </a:pPr>
            <a:r>
              <a:rPr lang="en-US" sz="1500" dirty="0">
                <a:solidFill>
                  <a:srgbClr val="1A2233"/>
                </a:solidFill>
              </a:rPr>
              <a:t>线上延续&amp;quot;</a:t>
            </a:r>
            <a:endParaRPr lang="en-US" sz="1500" dirty="0"/>
          </a:p>
          <a:p>
            <a:pPr marL="342900" indent="-342900">
              <a:lnSpc>
                <a:spcPct val="150000"/>
              </a:lnSpc>
              <a:buSzPct val="100000"/>
              <a:buChar char="•"/>
            </a:pPr>
            <a:r>
              <a:rPr lang="en-US" sz="1500" dirty="0">
                <a:solidFill>
                  <a:srgbClr val="1A2233"/>
                </a:solidFill>
              </a:rPr>
              <a:t>综合电商+垂直直播+社交电商+跨境平台&amp;quot;</a:t>
            </a:r>
            <a:endParaRPr lang="en-US" sz="1500" dirty="0"/>
          </a:p>
          <a:p>
            <a:pPr marL="342900" indent="-342900">
              <a:lnSpc>
                <a:spcPct val="150000"/>
              </a:lnSpc>
              <a:buSzPct val="100000"/>
              <a:buChar char="•"/>
            </a:pPr>
            <a:r>
              <a:rPr lang="en-US" sz="1500" dirty="0">
                <a:solidFill>
                  <a:srgbClr val="1A2233"/>
                </a:solidFill>
              </a:rPr>
              <a:t>的多元矩阵。</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4.1 主要竞品识别</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成人休闲板块 ：优衣库、ZARA、UR、海澜之家、以纯、美邦(美特斯邦威)。</a:t>
            </a:r>
            <a:endParaRPr lang="en-US" sz="1500" dirty="0"/>
          </a:p>
          <a:p>
            <a:pPr marL="342900" indent="-342900">
              <a:lnSpc>
                <a:spcPct val="150000"/>
              </a:lnSpc>
              <a:buSzPct val="100000"/>
              <a:buChar char="•"/>
            </a:pPr>
            <a:r>
              <a:rPr lang="en-US" sz="1500" dirty="0">
                <a:solidFill>
                  <a:srgbClr val="1A2233"/>
                </a:solidFill>
              </a:rPr>
              <a:t>其中优衣库是森马2023年明确对标的&amp;quot;</a:t>
            </a:r>
            <a:endParaRPr lang="en-US" sz="1500" dirty="0"/>
          </a:p>
          <a:p>
            <a:pPr marL="342900" indent="-342900">
              <a:lnSpc>
                <a:spcPct val="150000"/>
              </a:lnSpc>
              <a:buSzPct val="100000"/>
              <a:buChar char="•"/>
            </a:pPr>
            <a:r>
              <a:rPr lang="en-US" sz="1500" dirty="0">
                <a:solidFill>
                  <a:srgbClr val="1A2233"/>
                </a:solidFill>
              </a:rPr>
              <a:t>中国版优衣库&amp;quot;</a:t>
            </a:r>
            <a:endParaRPr lang="en-US" sz="1500" dirty="0"/>
          </a:p>
          <a:p>
            <a:pPr marL="342900" indent="-342900">
              <a:lnSpc>
                <a:spcPct val="150000"/>
              </a:lnSpc>
              <a:buSzPct val="100000"/>
              <a:buChar char="•"/>
            </a:pPr>
            <a:r>
              <a:rPr lang="en-US" sz="1500" dirty="0">
                <a:solidFill>
                  <a:srgbClr val="1A2233"/>
                </a:solidFill>
              </a:rPr>
              <a:t>目标对象，UR与优衣库凭借高效供应链与潮流设计持续挤压森马成人线。</a:t>
            </a:r>
            <a:endParaRPr lang="en-US" sz="1500" dirty="0"/>
          </a:p>
          <a:p>
            <a:pPr marL="342900" indent="-342900">
              <a:lnSpc>
                <a:spcPct val="150000"/>
              </a:lnSpc>
              <a:buSzPct val="100000"/>
              <a:buChar char="•"/>
            </a:pPr>
            <a:r>
              <a:rPr lang="en-US" sz="1500" dirty="0">
                <a:solidFill>
                  <a:srgbClr val="1A2233"/>
                </a:solidFill>
              </a:rPr>
              <a:t>童装板块 ： </a:t>
            </a:r>
            <a:endParaRPr lang="en-US" sz="1500" dirty="0"/>
          </a:p>
          <a:p>
            <a:pPr marL="342900" indent="-342900">
              <a:lnSpc>
                <a:spcPct val="150000"/>
              </a:lnSpc>
              <a:buSzPct val="100000"/>
              <a:buChar char="•"/>
            </a:pPr>
            <a:r>
              <a:rPr lang="en-US" sz="1500" dirty="0">
                <a:solidFill>
                  <a:srgbClr val="1A2233"/>
                </a:solidFill>
              </a:rPr>
              <a:t>  高端线：FILA KIDS、Nike Kids、BONPOINT(雅戈尔2024年1月以约2亿欧元收购，中国仅30家门店)。</a:t>
            </a:r>
            <a:endParaRPr lang="en-US" sz="1500" dirty="0"/>
          </a:p>
          <a:p>
            <a:pPr marL="342900" indent="-342900">
              <a:lnSpc>
                <a:spcPct val="150000"/>
              </a:lnSpc>
              <a:buSzPct val="100000"/>
              <a:buChar char="•"/>
            </a:pPr>
            <a:r>
              <a:rPr lang="en-US" sz="1500" dirty="0">
                <a:solidFill>
                  <a:srgbClr val="1A2233"/>
                </a:solidFill>
              </a:rPr>
              <a:t>中端主战场：巴拉巴拉自身(亚洲童装销售额第一)。</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4.2 多维度对标</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维度  森马主品牌(成人休闲)  优衣库(对标对象)  巴拉巴拉  安奈儿  361°儿童      目标人群  中国大众家庭(2023起)  全年龄段家庭  中产家庭儿童(0-12岁)  中端家庭儿童  三四线儿童    主力价格带  中</a:t>
            </a:r>
            <a:endParaRPr lang="en-US" sz="1500" dirty="0"/>
          </a:p>
          <a:p>
            <a:pPr marL="342900" indent="-342900">
              <a:lnSpc>
                <a:spcPct val="150000"/>
              </a:lnSpc>
              <a:buSzPct val="100000"/>
              <a:buChar char="•"/>
            </a:pPr>
            <a:r>
              <a:rPr lang="en-US" sz="1500" dirty="0">
                <a:solidFill>
                  <a:srgbClr val="1A2233"/>
                </a:solidFill>
              </a:rPr>
              <a:t>羽绒服700-1000元  80-120元  运动鞋均价65元    渠道结构  加盟为主(&amp;gt;</a:t>
            </a:r>
            <a:endParaRPr lang="en-US" sz="1500" dirty="0"/>
          </a:p>
          <a:p>
            <a:pPr marL="342900" indent="-342900">
              <a:lnSpc>
                <a:spcPct val="150000"/>
              </a:lnSpc>
              <a:buSzPct val="100000"/>
              <a:buChar char="•"/>
            </a:pPr>
            <a:r>
              <a:rPr lang="en-US" sz="1500" dirty="0">
                <a:solidFill>
                  <a:srgbClr val="1A2233"/>
                </a:solidFill>
              </a:rPr>
              <a:t>80%)  直营+全球分仓物流  加盟+直营+5,514家  区域供应链  下沉运动渠道    供应链模式  国内中小厂商为主  SPA全链路垂直整合  国内供应链  区域供应链  运动品牌供应链    库存周转  库存压力大(2024末存</a:t>
            </a:r>
            <a:endParaRPr lang="en-US" sz="1500" dirty="0"/>
          </a:p>
          <a:p>
            <a:pPr marL="342900" indent="-342900">
              <a:lnSpc>
                <a:spcPct val="150000"/>
              </a:lnSpc>
              <a:buSzPct val="100000"/>
              <a:buChar char="•"/>
            </a:pPr>
            <a:r>
              <a:rPr lang="en-US" sz="1500" dirty="0">
                <a:solidFill>
                  <a:srgbClr val="1A2233"/>
                </a:solidFill>
              </a:rPr>
              <a:t>再造新常服&amp;quot;</a:t>
            </a:r>
            <a:endParaRPr lang="en-US" sz="1500" dirty="0"/>
          </a:p>
          <a:p>
            <a:pPr marL="342900" indent="-342900">
              <a:lnSpc>
                <a:spcPct val="150000"/>
              </a:lnSpc>
              <a:buSzPct val="100000"/>
              <a:buChar char="•"/>
            </a:pPr>
            <a:r>
              <a:rPr lang="en-US" sz="1500" dirty="0">
                <a:solidFill>
                  <a:srgbClr val="1A2233"/>
                </a:solidFill>
              </a:rPr>
              <a:t>、徐志胜、陈都灵  HEATTECH、AIRism、轻型羽绒服  三丽鸥/哈利波特/红山动物园/小猪佩奇IP  —  运动属性+低价</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4.3 竞品动作对森马的影响</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国际快时尚(优衣库、ZARA)挤压森马成人线，迫使公司2023年起放弃&amp;quot;</a:t>
            </a:r>
            <a:endParaRPr lang="en-US" sz="1500" dirty="0"/>
          </a:p>
          <a:p>
            <a:pPr marL="342900" indent="-342900">
              <a:lnSpc>
                <a:spcPct val="150000"/>
              </a:lnSpc>
              <a:buSzPct val="100000"/>
              <a:buChar char="•"/>
            </a:pPr>
            <a:r>
              <a:rPr lang="en-US" sz="1500" dirty="0">
                <a:solidFill>
                  <a:srgbClr val="1A2233"/>
                </a:solidFill>
              </a:rPr>
              <a:t>中国版ZARA&amp;quot;</a:t>
            </a:r>
            <a:endParaRPr lang="en-US" sz="1500" dirty="0"/>
          </a:p>
          <a:p>
            <a:pPr marL="342900" indent="-342900">
              <a:lnSpc>
                <a:spcPct val="150000"/>
              </a:lnSpc>
              <a:buSzPct val="100000"/>
              <a:buChar char="•"/>
            </a:pPr>
            <a:r>
              <a:rPr lang="en-US" sz="1500" dirty="0">
                <a:solidFill>
                  <a:srgbClr val="1A2233"/>
                </a:solidFill>
              </a:rPr>
              <a:t>、转向家庭客群；</a:t>
            </a:r>
            <a:endParaRPr lang="en-US" sz="1500" dirty="0"/>
          </a:p>
          <a:p>
            <a:pPr marL="342900" indent="-342900">
              <a:lnSpc>
                <a:spcPct val="150000"/>
              </a:lnSpc>
              <a:buSzPct val="100000"/>
              <a:buChar char="•"/>
            </a:pPr>
            <a:r>
              <a:rPr lang="en-US" sz="1500" dirty="0">
                <a:solidFill>
                  <a:srgbClr val="1A2233"/>
                </a:solidFill>
              </a:rPr>
              <a:t>高端童装(BONPOINT)因门店稀缺(中国仅30家)未撼动巴拉巴拉基本盘；</a:t>
            </a:r>
            <a:endParaRPr lang="en-US" sz="1500" dirty="0"/>
          </a:p>
          <a:p>
            <a:pPr marL="342900" indent="-342900">
              <a:lnSpc>
                <a:spcPct val="150000"/>
              </a:lnSpc>
              <a:buSzPct val="100000"/>
              <a:buChar char="•"/>
            </a:pPr>
            <a:r>
              <a:rPr lang="en-US" sz="1500" dirty="0">
                <a:solidFill>
                  <a:srgbClr val="1A2233"/>
                </a:solidFill>
              </a:rPr>
              <a:t>安奈儿、361°儿童以&amp;quot;</a:t>
            </a:r>
            <a:endParaRPr lang="en-US" sz="1500" dirty="0"/>
          </a:p>
          <a:p>
            <a:pPr marL="342900" indent="-342900">
              <a:lnSpc>
                <a:spcPct val="150000"/>
              </a:lnSpc>
              <a:buSzPct val="100000"/>
              <a:buChar char="•"/>
            </a:pPr>
            <a:r>
              <a:rPr lang="en-US" sz="1500" dirty="0">
                <a:solidFill>
                  <a:srgbClr val="1A2233"/>
                </a:solidFill>
              </a:rPr>
              <a:t>低价+本地化&amp;quot;</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5.1 代言人策略</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时间  代言人  核心物料  量化效果      2024年冬季  徐志胜(脱口秀演员)  《绒毛的歌》广告片、&amp;quot;</a:t>
            </a:r>
            <a:endParaRPr lang="en-US" sz="1500" dirty="0"/>
          </a:p>
          <a:p>
            <a:pPr marL="342900" indent="-342900">
              <a:lnSpc>
                <a:spcPct val="150000"/>
              </a:lnSpc>
              <a:buSzPct val="100000"/>
              <a:buChar char="•"/>
            </a:pPr>
            <a:r>
              <a:rPr lang="en-US" sz="1500" dirty="0">
                <a:solidFill>
                  <a:srgbClr val="1A2233"/>
                </a:solidFill>
              </a:rPr>
              <a:t>绒毛形象&amp;quot;</a:t>
            </a:r>
            <a:endParaRPr lang="en-US" sz="1500" dirty="0"/>
          </a:p>
          <a:p>
            <a:pPr marL="342900" indent="-342900">
              <a:lnSpc>
                <a:spcPct val="150000"/>
              </a:lnSpc>
              <a:buSzPct val="100000"/>
              <a:buChar char="•"/>
            </a:pPr>
            <a:r>
              <a:rPr lang="en-US" sz="1500" dirty="0">
                <a:solidFill>
                  <a:srgbClr val="1A2233"/>
                </a:solidFill>
              </a:rPr>
              <a:t>18亿次曝光、UGC曝光3.2亿次、微信指数/微博日均声量大幅提升    2025年12月  陈都灵(品牌代言人)  上海五角场暖冬快闪店、艺人同款DIY  &amp;quot;</a:t>
            </a:r>
            <a:endParaRPr lang="en-US" sz="1500" dirty="0"/>
          </a:p>
          <a:p>
            <a:pPr marL="342900" indent="-342900">
              <a:lnSpc>
                <a:spcPct val="150000"/>
              </a:lnSpc>
              <a:buSzPct val="100000"/>
              <a:buChar char="•"/>
            </a:pPr>
            <a:r>
              <a:rPr lang="en-US" sz="1500" dirty="0">
                <a:solidFill>
                  <a:srgbClr val="1A2233"/>
                </a:solidFill>
              </a:rPr>
              <a:t>上海五角场到底有谁在&amp;quot;</a:t>
            </a:r>
            <a:endParaRPr lang="en-US" sz="1500" dirty="0"/>
          </a:p>
          <a:p>
            <a:pPr marL="342900" indent="-342900">
              <a:lnSpc>
                <a:spcPct val="150000"/>
              </a:lnSpc>
              <a:buSzPct val="100000"/>
              <a:buChar char="•"/>
            </a:pPr>
            <a:r>
              <a:rPr lang="en-US" sz="1500" dirty="0">
                <a:solidFill>
                  <a:srgbClr val="1A2233"/>
                </a:solidFill>
              </a:rPr>
              <a:t>登顶抖音同城热榜TOP1；</a:t>
            </a:r>
            <a:endParaRPr lang="en-US" sz="1500" dirty="0"/>
          </a:p>
          <a:p>
            <a:pPr marL="342900" indent="-342900">
              <a:lnSpc>
                <a:spcPct val="150000"/>
              </a:lnSpc>
              <a:buSzPct val="100000"/>
              <a:buChar char="•"/>
            </a:pPr>
            <a:r>
              <a:rPr lang="en-US" sz="1500" dirty="0">
                <a:solidFill>
                  <a:srgbClr val="1A2233"/>
                </a:solidFill>
              </a:rPr>
              <a:t>陈都灵同款羽绒服24小时内断货    </a:t>
            </a:r>
            <a:endParaRPr lang="en-US" sz="1500" dirty="0"/>
          </a:p>
          <a:p>
            <a:pPr marL="342900" indent="-342900">
              <a:lnSpc>
                <a:spcPct val="150000"/>
              </a:lnSpc>
              <a:buSzPct val="100000"/>
              <a:buChar char="•"/>
            </a:pPr>
            <a:r>
              <a:rPr lang="en-US" sz="1500" dirty="0">
                <a:solidFill>
                  <a:srgbClr val="1A2233"/>
                </a:solidFill>
              </a:rPr>
              <a:t>  评估 ：代言人策略从&amp;quot;</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5.2 IP联名与Campaign</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童装IP矩阵 ：巴拉巴拉持续引入三丽鸥、哈利波特、红山动物园、小猪佩奇等IP，覆盖不同年龄段。</a:t>
            </a:r>
            <a:endParaRPr lang="en-US" sz="1500" dirty="0"/>
          </a:p>
          <a:p>
            <a:pPr marL="342900" indent="-342900">
              <a:lnSpc>
                <a:spcPct val="150000"/>
              </a:lnSpc>
              <a:buSzPct val="100000"/>
              <a:buChar char="•"/>
            </a:pPr>
            <a:r>
              <a:rPr lang="en-US" sz="1500" dirty="0">
                <a:solidFill>
                  <a:srgbClr val="1A2233"/>
                </a:solidFill>
              </a:rPr>
              <a:t>成人装IP/设计师 ：Marcus设计师联名系列、疯狂动物城合作系列、emoji™联名卫衣(面向&amp;quot;</a:t>
            </a:r>
            <a:endParaRPr lang="en-US" sz="1500" dirty="0"/>
          </a:p>
          <a:p>
            <a:pPr marL="342900" indent="-342900">
              <a:lnSpc>
                <a:spcPct val="150000"/>
              </a:lnSpc>
              <a:buSzPct val="100000"/>
              <a:buChar char="•"/>
            </a:pPr>
            <a:r>
              <a:rPr lang="en-US" sz="1500" dirty="0">
                <a:solidFill>
                  <a:srgbClr val="1A2233"/>
                </a:solidFill>
              </a:rPr>
              <a:t>质感流行派&amp;quot;</a:t>
            </a:r>
            <a:endParaRPr lang="en-US" sz="1500" dirty="0"/>
          </a:p>
          <a:p>
            <a:pPr marL="342900" indent="-342900">
              <a:lnSpc>
                <a:spcPct val="150000"/>
              </a:lnSpc>
              <a:buSzPct val="100000"/>
              <a:buChar char="•"/>
            </a:pPr>
            <a:r>
              <a:rPr lang="en-US" sz="1500" dirty="0">
                <a:solidFill>
                  <a:srgbClr val="1A2233"/>
                </a:solidFill>
              </a:rPr>
              <a:t>)。</a:t>
            </a:r>
            <a:endParaRPr lang="en-US" sz="1500" dirty="0"/>
          </a:p>
          <a:p>
            <a:pPr marL="342900" indent="-342900">
              <a:lnSpc>
                <a:spcPct val="150000"/>
              </a:lnSpc>
              <a:buSzPct val="100000"/>
              <a:buChar char="•"/>
            </a:pPr>
            <a:r>
              <a:rPr lang="en-US" sz="1500" dirty="0">
                <a:solidFill>
                  <a:srgbClr val="1A2233"/>
                </a:solidFill>
              </a:rPr>
              <a:t>2025年Q3《蹲下来试试》Campaign ：  创意原点：门店店员&amp;quot;</a:t>
            </a:r>
            <a:endParaRPr lang="en-US" sz="1500" dirty="0"/>
          </a:p>
          <a:p>
            <a:pPr marL="342900" indent="-342900">
              <a:lnSpc>
                <a:spcPct val="150000"/>
              </a:lnSpc>
              <a:buSzPct val="100000"/>
              <a:buChar char="•"/>
            </a:pPr>
            <a:r>
              <a:rPr lang="en-US" sz="1500" dirty="0">
                <a:solidFill>
                  <a:srgbClr val="1A2233"/>
                </a:solidFill>
              </a:rPr>
              <a:t>蹲下来试试森柔牛仔&amp;quot;</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5.3 营销与品类、渠道协同</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&amp;quot;</a:t>
            </a:r>
            <a:endParaRPr lang="en-US" sz="1500" dirty="0"/>
          </a:p>
          <a:p>
            <a:pPr marL="342900" indent="-342900">
              <a:lnSpc>
                <a:spcPct val="150000"/>
              </a:lnSpc>
              <a:buSzPct val="100000"/>
              <a:buChar char="•"/>
            </a:pPr>
            <a:r>
              <a:rPr lang="en-US" sz="1500" dirty="0">
                <a:solidFill>
                  <a:srgbClr val="1A2233"/>
                </a:solidFill>
              </a:rPr>
              <a:t>2+N&amp;quot;</a:t>
            </a:r>
            <a:endParaRPr lang="en-US" sz="1500" dirty="0"/>
          </a:p>
          <a:p>
            <a:pPr marL="342900" indent="-342900">
              <a:lnSpc>
                <a:spcPct val="150000"/>
              </a:lnSpc>
              <a:buSzPct val="100000"/>
              <a:buChar char="•"/>
            </a:pPr>
            <a:r>
              <a:rPr lang="en-US" sz="1500" dirty="0">
                <a:solidFill>
                  <a:srgbClr val="1A2233"/>
                </a:solidFill>
              </a:rPr>
              <a:t>多品牌战略下，每个品牌矩阵成员对应不同细分人群与价位段。</a:t>
            </a:r>
            <a:endParaRPr lang="en-US" sz="1500" dirty="0"/>
          </a:p>
          <a:p>
            <a:pPr marL="342900" indent="-342900">
              <a:lnSpc>
                <a:spcPct val="150000"/>
              </a:lnSpc>
              <a:buSzPct val="100000"/>
              <a:buChar char="•"/>
            </a:pPr>
            <a:r>
              <a:rPr lang="en-US" sz="1500" dirty="0">
                <a:solidFill>
                  <a:srgbClr val="1A2233"/>
                </a:solidFill>
              </a:rPr>
              <a:t>渠道侧&amp;quot;</a:t>
            </a:r>
            <a:endParaRPr lang="en-US" sz="1500" dirty="0"/>
          </a:p>
          <a:p>
            <a:pPr marL="342900" indent="-342900">
              <a:lnSpc>
                <a:spcPct val="150000"/>
              </a:lnSpc>
              <a:buSzPct val="100000"/>
              <a:buChar char="•"/>
            </a:pPr>
            <a:r>
              <a:rPr lang="en-US" sz="1500" dirty="0">
                <a:solidFill>
                  <a:srgbClr val="1A2233"/>
                </a:solidFill>
              </a:rPr>
              <a:t>产品-渠道-沟通&amp;quot;</a:t>
            </a:r>
            <a:endParaRPr lang="en-US" sz="1500" dirty="0"/>
          </a:p>
          <a:p>
            <a:pPr marL="342900" indent="-342900">
              <a:lnSpc>
                <a:spcPct val="150000"/>
              </a:lnSpc>
              <a:buSzPct val="100000"/>
              <a:buChar char="•"/>
            </a:pPr>
            <a:r>
              <a:rPr lang="en-US" sz="1500" dirty="0">
                <a:solidFill>
                  <a:srgbClr val="1A2233"/>
                </a:solidFill>
              </a:rPr>
              <a:t>一体化协同(钟德达总结)成为新一轮营销的支撑三角。</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6.1 门店运营效率(2024年截面)</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指标  直营店  加盟店      单店收入  158万元，同比-21.7%  84万元，同比+3.7%    平均面积  205平米  182平米    年坪效  7,711元，同比-18.2%  4,593元，同比+3.8%    </a:t>
            </a:r>
            <a:endParaRPr lang="en-US" sz="1500" dirty="0"/>
          </a:p>
          <a:p>
            <a:pPr marL="342900" indent="-342900">
              <a:lnSpc>
                <a:spcPct val="150000"/>
              </a:lnSpc>
              <a:buSzPct val="100000"/>
              <a:buChar char="•"/>
            </a:pPr>
            <a:r>
              <a:rPr lang="en-US" sz="1500" dirty="0">
                <a:solidFill>
                  <a:srgbClr val="1A2233"/>
                </a:solidFill>
              </a:rPr>
              <a:t> </a:t>
            </a:r>
            <a:endParaRPr lang="en-US" sz="1500" dirty="0"/>
          </a:p>
          <a:p>
            <a:pPr marL="342900" indent="-342900">
              <a:lnSpc>
                <a:spcPct val="150000"/>
              </a:lnSpc>
              <a:buSzPct val="100000"/>
              <a:buChar char="•"/>
            </a:pPr>
            <a:r>
              <a:rPr lang="en-US" sz="1500" dirty="0">
                <a:solidFill>
                  <a:srgbClr val="1A2233"/>
                </a:solidFill>
              </a:rPr>
              <a:t>上海五角场万达广场店2025年11月日均客流近10万人、位列上海市第5位，森马五角场店凭借融合自然元素与现代风格的设计荣获法国设计奖金奖。</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6.2 会员、私域与复购</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会员与私域 ：现有素材未披露近3年具体会员总数、复购率与私域GMV。</a:t>
            </a:r>
            <a:endParaRPr lang="en-US" sz="1500" dirty="0"/>
          </a:p>
          <a:p>
            <a:pPr marL="342900" indent="-342900">
              <a:lnSpc>
                <a:spcPct val="150000"/>
              </a:lnSpc>
              <a:buSzPct val="100000"/>
              <a:buChar char="•"/>
            </a:pPr>
            <a:r>
              <a:rPr lang="en-US" sz="1500" dirty="0">
                <a:solidFill>
                  <a:srgbClr val="1A2233"/>
                </a:solidFill>
              </a:rPr>
              <a:t>数字化门店 ：2023H1已建超1,000家拥有三种以上&amp;quot;</a:t>
            </a:r>
            <a:endParaRPr lang="en-US" sz="1500" dirty="0"/>
          </a:p>
          <a:p>
            <a:pPr marL="342900" indent="-342900">
              <a:lnSpc>
                <a:spcPct val="150000"/>
              </a:lnSpc>
              <a:buSzPct val="100000"/>
              <a:buChar char="•"/>
            </a:pPr>
            <a:r>
              <a:rPr lang="en-US" sz="1500" dirty="0">
                <a:solidFill>
                  <a:srgbClr val="1A2233"/>
                </a:solidFill>
              </a:rPr>
              <a:t>六结构及五化&amp;quot;</a:t>
            </a:r>
            <a:endParaRPr lang="en-US" sz="1500" dirty="0"/>
          </a:p>
          <a:p>
            <a:pPr marL="342900" indent="-342900">
              <a:lnSpc>
                <a:spcPct val="150000"/>
              </a:lnSpc>
              <a:buSzPct val="100000"/>
              <a:buChar char="•"/>
            </a:pPr>
            <a:r>
              <a:rPr lang="en-US" sz="1500" dirty="0">
                <a:solidFill>
                  <a:srgbClr val="1A2233"/>
                </a:solidFill>
              </a:rPr>
              <a:t>数字化门店(百科口径)；</a:t>
            </a:r>
            <a:endParaRPr lang="en-US" sz="1500" dirty="0"/>
          </a:p>
          <a:p>
            <a:pPr marL="342900" indent="-342900">
              <a:lnSpc>
                <a:spcPct val="150000"/>
              </a:lnSpc>
              <a:buSzPct val="100000"/>
              <a:buChar char="•"/>
            </a:pPr>
            <a:r>
              <a:rPr lang="en-US" sz="1500" dirty="0">
                <a:solidFill>
                  <a:srgbClr val="1A2233"/>
                </a:solidFill>
              </a:rPr>
              <a:t>公司表示将&amp;quot;</a:t>
            </a:r>
            <a:endParaRPr lang="en-US" sz="1500" dirty="0"/>
          </a:p>
          <a:p>
            <a:pPr marL="342900" indent="-342900">
              <a:lnSpc>
                <a:spcPct val="150000"/>
              </a:lnSpc>
              <a:buSzPct val="100000"/>
              <a:buChar char="•"/>
            </a:pPr>
            <a:r>
              <a:rPr lang="en-US" sz="1500" dirty="0">
                <a:solidFill>
                  <a:srgbClr val="1A2233"/>
                </a:solidFill>
              </a:rPr>
              <a:t>通过数字化手段赋能线上运营、提升全域同款同价比例&amp;quot;</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6.3 库存与周转</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时点  存货(亿元)  同比      2023年末  27.5  —    2024年末  34.8  +26.6%    2024年库存商品  34.7  —    2024年跌价准备  3.9(创新低)  —    2022-2023</a:t>
            </a:r>
            <a:endParaRPr lang="en-US" sz="1500" dirty="0"/>
          </a:p>
          <a:p>
            <a:pPr marL="342900" indent="-342900">
              <a:lnSpc>
                <a:spcPct val="150000"/>
              </a:lnSpc>
              <a:buSzPct val="100000"/>
              <a:buChar char="•"/>
            </a:pPr>
            <a:r>
              <a:rPr lang="en-US" sz="1500" dirty="0">
                <a:solidFill>
                  <a:srgbClr val="1A2233"/>
                </a:solidFill>
              </a:rPr>
              <a:t>6亿元/年  —    2020-2021年跌价计提  ≈5亿元/年  —    </a:t>
            </a:r>
            <a:endParaRPr lang="en-US" sz="1500" dirty="0"/>
          </a:p>
          <a:p>
            <a:pPr marL="342900" indent="-342900">
              <a:lnSpc>
                <a:spcPct val="150000"/>
              </a:lnSpc>
              <a:buSzPct val="100000"/>
              <a:buChar char="•"/>
            </a:pPr>
            <a:r>
              <a:rPr lang="en-US" sz="1500" dirty="0">
                <a:solidFill>
                  <a:srgbClr val="1A2233"/>
                </a:solidFill>
              </a:rPr>
              <a:t>  2024年店库存量同比+16.7%，库存压力回升但跌价计提反而创新低，反映管理层对库存消化持有偏积极假设。</a:t>
            </a:r>
            <a:endParaRPr lang="en-US" sz="1500" dirty="0"/>
          </a:p>
          <a:p>
            <a:pPr marL="342900" indent="-342900">
              <a:lnSpc>
                <a:spcPct val="150000"/>
              </a:lnSpc>
              <a:buSzPct val="100000"/>
              <a:buChar char="•"/>
            </a:pPr>
            <a:r>
              <a:rPr lang="en-US" sz="1500" dirty="0">
                <a:solidFill>
                  <a:srgbClr val="1A2233"/>
                </a:solidFill>
              </a:rPr>
              <a:t>对比优衣库SPA模式库存周转约90天，森马依赖加盟、终端把控力弱，供应链响应速度滞后。</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6.4 2025年1-9月关键经营指标</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指标  数值  同比      营业总收入  98.44亿元  +4.74%    净利润  5.37亿元  -28.9%    扣非净利润  5.15亿元  -29.83%    销售费用  27.82亿元  +18.62%    三费合</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7.1 营收与利润年度走势</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指标  2019  2022  2023  2024  2025年1-9月      营业收入  193.37亿元(峰)  133.31亿元(谷)  增长回升(具体未披露)  146.26亿元(+7.06%)  98.44亿元(+4.74%</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7.2 品类拆分(2024年)</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品类  收入  占比  同比      森马休闲服饰  41.90亿元  28.65%  +0.44%    巴拉巴拉儿童服饰  102.68亿元  70.21%  +9.55%    其他业务  1.68亿元  1.15%  +43.74</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7.3 渠道拆分(2024年)</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维度  金额  同比      线上销售  66.72亿元  +7.14%    线下销售  77.86亿元  +6.42%</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7.4 市占率与排名</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童装 ：巴拉巴拉连续多年国内市场份额第一；</a:t>
            </a:r>
            <a:endParaRPr lang="en-US" sz="1500" dirty="0"/>
          </a:p>
          <a:p>
            <a:pPr marL="342900" indent="-342900">
              <a:lnSpc>
                <a:spcPct val="150000"/>
              </a:lnSpc>
              <a:buSzPct val="100000"/>
              <a:buChar char="•"/>
            </a:pPr>
            <a:r>
              <a:rPr lang="en-US" sz="1500" dirty="0">
                <a:solidFill>
                  <a:srgbClr val="1A2233"/>
                </a:solidFill>
              </a:rPr>
              <a:t>欧睿国际口径下为亚洲童装销售额第一。</a:t>
            </a:r>
            <a:endParaRPr lang="en-US" sz="1500" dirty="0"/>
          </a:p>
          <a:p>
            <a:pPr marL="342900" indent="-342900">
              <a:lnSpc>
                <a:spcPct val="150000"/>
              </a:lnSpc>
              <a:buSzPct val="100000"/>
              <a:buChar char="•"/>
            </a:pPr>
            <a:r>
              <a:rPr lang="en-US" sz="1500" dirty="0">
                <a:solidFill>
                  <a:srgbClr val="1A2233"/>
                </a:solidFill>
              </a:rPr>
              <a:t>成人休闲 ：未披露具体份额；</a:t>
            </a:r>
            <a:endParaRPr lang="en-US" sz="1500" dirty="0"/>
          </a:p>
          <a:p>
            <a:pPr marL="342900" indent="-342900">
              <a:lnSpc>
                <a:spcPct val="150000"/>
              </a:lnSpc>
              <a:buSzPct val="100000"/>
              <a:buChar char="•"/>
            </a:pPr>
            <a:r>
              <a:rPr lang="en-US" sz="1500" dirty="0">
                <a:solidFill>
                  <a:srgbClr val="1A2233"/>
                </a:solidFill>
              </a:rPr>
              <a:t>可比对象中，美邦服饰2024年前三季度营收5.3亿元(-37.3%)。</a:t>
            </a:r>
            <a:endParaRPr lang="en-US" sz="1500" dirty="0"/>
          </a:p>
          <a:p>
            <a:pPr marL="342900" indent="-342900">
              <a:lnSpc>
                <a:spcPct val="150000"/>
              </a:lnSpc>
              <a:buSzPct val="100000"/>
              <a:buChar char="•"/>
            </a:pPr>
            <a:r>
              <a:rPr lang="en-US" sz="1500" dirty="0">
                <a:solidFill>
                  <a:srgbClr val="1A2233"/>
                </a:solidFill>
              </a:rPr>
              <a:t>海外市场 ：截至2024年末海外门店总数突破100家，覆盖东南亚、中东、蒙古等。</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7.5 股东回报</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2024年公司分红率提升至83%。</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7.6 行业大盘参照</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中国运动休闲服饰市场：2018年1,141亿元→2022年1,396.9亿元(CAGR 5.2%)；</a:t>
            </a:r>
            <a:endParaRPr lang="en-US" sz="1500" dirty="0"/>
          </a:p>
          <a:p>
            <a:pPr marL="342900" indent="-342900">
              <a:lnSpc>
                <a:spcPct val="150000"/>
              </a:lnSpc>
              <a:buSzPct val="100000"/>
              <a:buChar char="•"/>
            </a:pPr>
            <a:r>
              <a:rPr lang="en-US" sz="1500" dirty="0">
                <a:solidFill>
                  <a:srgbClr val="1A2233"/>
                </a:solidFill>
              </a:rPr>
              <a:t>预计2027年达2,094.5亿元(CAGR 8.2%)。</a:t>
            </a:r>
            <a:endParaRPr lang="en-US" sz="1500" dirty="0"/>
          </a:p>
          <a:p>
            <a:pPr marL="342900" indent="-342900">
              <a:lnSpc>
                <a:spcPct val="150000"/>
              </a:lnSpc>
              <a:buSzPct val="100000"/>
              <a:buChar char="•"/>
            </a:pPr>
            <a:r>
              <a:rPr lang="en-US" sz="1500" dirty="0">
                <a:solidFill>
                  <a:srgbClr val="1A2233"/>
                </a:solidFill>
              </a:rPr>
              <a:t>新生儿红利：2017年中国新生儿出生数量达近20多年最高；</a:t>
            </a:r>
            <a:endParaRPr lang="en-US" sz="1500" dirty="0"/>
          </a:p>
          <a:p>
            <a:pPr marL="342900" indent="-342900">
              <a:lnSpc>
                <a:spcPct val="150000"/>
              </a:lnSpc>
              <a:buSzPct val="100000"/>
              <a:buChar char="•"/>
            </a:pPr>
            <a:r>
              <a:rPr lang="en-US" sz="1500" dirty="0">
                <a:solidFill>
                  <a:srgbClr val="1A2233"/>
                </a:solidFill>
              </a:rPr>
              <a:t>其后逐年下滑，对童装远期需求构成压力。</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8.1 外部宏观环境</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2020-2022疫情冲击 ：2022年营收触底133.31亿元、净利润6.37亿元，主要受线下客流与供应链扰动影响。</a:t>
            </a:r>
            <a:endParaRPr lang="en-US" sz="1500" dirty="0"/>
          </a:p>
          <a:p>
            <a:pPr marL="342900" indent="-342900">
              <a:lnSpc>
                <a:spcPct val="150000"/>
              </a:lnSpc>
              <a:buSzPct val="100000"/>
              <a:buChar char="•"/>
            </a:pPr>
            <a:r>
              <a:rPr lang="en-US" sz="1500" dirty="0">
                <a:solidFill>
                  <a:srgbClr val="1A2233"/>
                </a:solidFill>
              </a:rPr>
              <a:t>人口结构变化 ：新生儿数量自2017年高峰后持续下滑，长期对童装业务构成需求压力。</a:t>
            </a:r>
            <a:endParaRPr lang="en-US" sz="1500" dirty="0"/>
          </a:p>
          <a:p>
            <a:pPr marL="342900" indent="-342900">
              <a:lnSpc>
                <a:spcPct val="150000"/>
              </a:lnSpc>
              <a:buSzPct val="100000"/>
              <a:buChar char="•"/>
            </a:pPr>
            <a:r>
              <a:rPr lang="en-US" sz="1500" dirty="0">
                <a:solidFill>
                  <a:srgbClr val="1A2233"/>
                </a:solidFill>
              </a:rPr>
              <a:t>消费趋势 ：理性务实消费回归，益普索《2025白皮书》显示品质型(28%)+实用型(17%)+潮流型(13%)成为主力，驱动公司从&amp;quot;</a:t>
            </a:r>
            <a:endParaRPr lang="en-US" sz="1500" dirty="0"/>
          </a:p>
          <a:p>
            <a:pPr marL="342900" indent="-342900">
              <a:lnSpc>
                <a:spcPct val="150000"/>
              </a:lnSpc>
              <a:buSzPct val="100000"/>
              <a:buChar char="•"/>
            </a:pPr>
            <a:r>
              <a:rPr lang="en-US" sz="1500" dirty="0">
                <a:solidFill>
                  <a:srgbClr val="1A2233"/>
                </a:solidFill>
              </a:rPr>
              <a:t>年轻时尚&amp;quot;</a:t>
            </a:r>
            <a:endParaRPr lang="en-US" sz="1500" dirty="0"/>
          </a:p>
          <a:p>
            <a:pPr marL="342900" indent="-342900">
              <a:lnSpc>
                <a:spcPct val="150000"/>
              </a:lnSpc>
              <a:buSzPct val="100000"/>
              <a:buChar char="•"/>
            </a:pPr>
            <a:r>
              <a:rPr lang="en-US" sz="1500" dirty="0">
                <a:solidFill>
                  <a:srgbClr val="1A2233"/>
                </a:solidFill>
              </a:rPr>
              <a:t>转向&amp;quot;</a:t>
            </a:r>
            <a:endParaRPr lang="en-US" sz="1500" dirty="0"/>
          </a:p>
          <a:p>
            <a:pPr marL="342900" indent="-342900">
              <a:lnSpc>
                <a:spcPct val="150000"/>
              </a:lnSpc>
              <a:buSzPct val="100000"/>
              <a:buChar char="•"/>
            </a:pPr>
            <a:r>
              <a:rPr lang="en-US" sz="1500" dirty="0">
                <a:solidFill>
                  <a:srgbClr val="1A2233"/>
                </a:solidFill>
              </a:rPr>
              <a:t>国民品质/得体主义&amp;quot;</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8.2 内部战略转型</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2017年起战略转向童装 ：巴拉巴拉营收首次超过主品牌森马休闲服饰，占比52.56%，自此童装成为第一引擎。</a:t>
            </a:r>
            <a:endParaRPr lang="en-US" sz="1500" dirty="0"/>
          </a:p>
          <a:p>
            <a:pPr marL="342900" indent="-342900">
              <a:lnSpc>
                <a:spcPct val="150000"/>
              </a:lnSpc>
              <a:buSzPct val="100000"/>
              <a:buChar char="•"/>
            </a:pPr>
            <a:r>
              <a:rPr lang="en-US" sz="1500" dirty="0">
                <a:solidFill>
                  <a:srgbClr val="1A2233"/>
                </a:solidFill>
              </a:rPr>
              <a:t>2023年品牌焕新 ：邱坚强出任董事长，明确放弃&amp;quot;</a:t>
            </a:r>
            <a:endParaRPr lang="en-US" sz="1500" dirty="0"/>
          </a:p>
          <a:p>
            <a:pPr marL="342900" indent="-342900">
              <a:lnSpc>
                <a:spcPct val="150000"/>
              </a:lnSpc>
              <a:buSzPct val="100000"/>
              <a:buChar char="•"/>
            </a:pPr>
            <a:r>
              <a:rPr lang="en-US" sz="1500" dirty="0">
                <a:solidFill>
                  <a:srgbClr val="1A2233"/>
                </a:solidFill>
              </a:rPr>
              <a:t>中国版ZARA&amp;quot;</a:t>
            </a:r>
            <a:endParaRPr lang="en-US" sz="1500" dirty="0"/>
          </a:p>
          <a:p>
            <a:pPr marL="342900" indent="-342900">
              <a:lnSpc>
                <a:spcPct val="150000"/>
              </a:lnSpc>
              <a:buSzPct val="100000"/>
              <a:buChar char="•"/>
            </a:pPr>
            <a:r>
              <a:rPr lang="en-US" sz="1500" dirty="0">
                <a:solidFill>
                  <a:srgbClr val="1A2233"/>
                </a:solidFill>
              </a:rPr>
              <a:t>目标，转向对标优衣库，目标客群调整为&amp;quot;</a:t>
            </a:r>
            <a:endParaRPr lang="en-US" sz="1500" dirty="0"/>
          </a:p>
          <a:p>
            <a:pPr marL="342900" indent="-342900">
              <a:lnSpc>
                <a:spcPct val="150000"/>
              </a:lnSpc>
              <a:buSzPct val="100000"/>
              <a:buChar char="•"/>
            </a:pPr>
            <a:r>
              <a:rPr lang="en-US" sz="1500" dirty="0">
                <a:solidFill>
                  <a:srgbClr val="1A2233"/>
                </a:solidFill>
              </a:rPr>
              <a:t>中国大众家庭&amp;quot;</a:t>
            </a:r>
            <a:endParaRPr lang="en-US" sz="1500" dirty="0"/>
          </a:p>
          <a:p>
            <a:pPr marL="342900" indent="-342900">
              <a:lnSpc>
                <a:spcPct val="150000"/>
              </a:lnSpc>
              <a:buSzPct val="100000"/>
              <a:buChar char="•"/>
            </a:pPr>
            <a:r>
              <a:rPr lang="en-US" sz="1500" dirty="0">
                <a:solidFill>
                  <a:srgbClr val="1A2233"/>
                </a:solidFill>
              </a:rPr>
              <a:t>。</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8.3 业务板块动态</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巴拉巴拉 ：防晒品类2024H1零售额突破1亿元；</a:t>
            </a:r>
            <a:endParaRPr lang="en-US" sz="1500" dirty="0"/>
          </a:p>
          <a:p>
            <a:pPr marL="342900" indent="-342900">
              <a:lnSpc>
                <a:spcPct val="150000"/>
              </a:lnSpc>
              <a:buSzPct val="100000"/>
              <a:buChar char="•"/>
            </a:pPr>
            <a:r>
              <a:rPr lang="en-US" sz="1500" dirty="0">
                <a:solidFill>
                  <a:srgbClr val="1A2233"/>
                </a:solidFill>
              </a:rPr>
              <a:t>持续引入三丽鸥、哈利波特、红山动物园、小猪佩奇IP。</a:t>
            </a:r>
            <a:endParaRPr lang="en-US" sz="1500" dirty="0"/>
          </a:p>
          <a:p>
            <a:pPr marL="342900" indent="-342900">
              <a:lnSpc>
                <a:spcPct val="150000"/>
              </a:lnSpc>
              <a:buSzPct val="100000"/>
              <a:buChar char="•"/>
            </a:pPr>
            <a:r>
              <a:rPr lang="en-US" sz="1500" dirty="0">
                <a:solidFill>
                  <a:srgbClr val="1A2233"/>
                </a:solidFill>
              </a:rPr>
              <a:t>儿童运动矩阵 ：ASICS Kids、PUMA Kids加速发展；</a:t>
            </a:r>
            <a:endParaRPr lang="en-US" sz="1500" dirty="0"/>
          </a:p>
          <a:p>
            <a:pPr marL="342900" indent="-342900">
              <a:lnSpc>
                <a:spcPct val="150000"/>
              </a:lnSpc>
              <a:buSzPct val="100000"/>
              <a:buChar char="•"/>
            </a:pPr>
            <a:r>
              <a:rPr lang="en-US" sz="1500" dirty="0">
                <a:solidFill>
                  <a:srgbClr val="1A2233"/>
                </a:solidFill>
              </a:rPr>
              <a:t>新品牌VividBox、舒库孵化中。</a:t>
            </a:r>
            <a:endParaRPr lang="en-US" sz="1500" dirty="0"/>
          </a:p>
          <a:p>
            <a:pPr marL="342900" indent="-342900">
              <a:lnSpc>
                <a:spcPct val="150000"/>
              </a:lnSpc>
              <a:buSzPct val="100000"/>
              <a:buChar char="•"/>
            </a:pPr>
            <a:r>
              <a:rPr lang="en-US" sz="1500" dirty="0">
                <a:solidFill>
                  <a:srgbClr val="1A2233"/>
                </a:solidFill>
              </a:rPr>
              <a:t>海外探索 ：2024年新开30+家，覆盖新加坡、马来西亚、越南、蒙古、约旦，海外门店总数突破100家。</a:t>
            </a:r>
            <a:endParaRPr lang="en-US" sz="1500" dirty="0"/>
          </a:p>
          <a:p>
            <a:pPr marL="342900" indent="-342900">
              <a:lnSpc>
                <a:spcPct val="150000"/>
              </a:lnSpc>
              <a:buSzPct val="100000"/>
              <a:buChar char="•"/>
            </a:pPr>
            <a:r>
              <a:rPr lang="en-US" sz="1500" dirty="0">
                <a:solidFill>
                  <a:srgbClr val="1A2233"/>
                </a:solidFill>
              </a:rPr>
              <a:t>直播创新 ：&amp;quot;</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9.1 定位与价格</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品牌  目标人群  主力价格带  调性关键词      森马(主品牌)  中国大众家庭(2023起)  中端  国民品质、舒服体验、品质生活    巴拉巴拉  中产家庭儿童(0-12岁)  主力150-200元；</a:t>
            </a:r>
            <a:endParaRPr lang="en-US" sz="1500" dirty="0"/>
          </a:p>
          <a:p>
            <a:pPr marL="342900" indent="-342900">
              <a:lnSpc>
                <a:spcPct val="150000"/>
              </a:lnSpc>
              <a:buSzPct val="100000"/>
              <a:buChar char="•"/>
            </a:pPr>
            <a:r>
              <a:rPr lang="en-US" sz="1500" dirty="0">
                <a:solidFill>
                  <a:srgbClr val="1A2233"/>
                </a:solidFill>
              </a:rPr>
              <a:t>羽绒服700-1000元  童装龙头、IP联名    优衣库  全年龄段家庭  中端  SPA、基础款、科技(HEATTECH/AIRism)    UR  年轻潮流人群  中端偏上  潮流设计、高效供应链    安奈儿  中端家庭儿童  </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9.2 渠道与营销</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品牌  门店结构  平台布局  代表性营销/IP      森马主品牌  2,752家(2025Q3)；</a:t>
            </a:r>
            <a:endParaRPr lang="en-US" sz="1500" dirty="0"/>
          </a:p>
          <a:p>
            <a:pPr marL="342900" indent="-342900">
              <a:lnSpc>
                <a:spcPct val="150000"/>
              </a:lnSpc>
              <a:buSzPct val="100000"/>
              <a:buChar char="•"/>
            </a:pPr>
            <a:r>
              <a:rPr lang="en-US" sz="1500" dirty="0">
                <a:solidFill>
                  <a:srgbClr val="1A2233"/>
                </a:solidFill>
              </a:rPr>
              <a:t>加盟为主  淘系、拼多多(增长)、抖音、京东、唯品会  徐志胜《绒毛的歌》、陈都灵暖冬快闪、《蹲下来试试》、Marcus联名、emoji™联名    巴拉巴拉  5,353家(2025Q3)；</a:t>
            </a:r>
            <a:endParaRPr lang="en-US" sz="1500" dirty="0"/>
          </a:p>
          <a:p>
            <a:pPr marL="342900" indent="-342900">
              <a:lnSpc>
                <a:spcPct val="150000"/>
              </a:lnSpc>
              <a:buSzPct val="100000"/>
              <a:buChar char="•"/>
            </a:pPr>
            <a:r>
              <a:rPr lang="en-US" sz="1500" dirty="0">
                <a:solidFill>
                  <a:srgbClr val="1A2233"/>
                </a:solidFill>
              </a:rPr>
              <a:t>加盟+直营  同上  三丽鸥、哈利波特、红山动物园、小猪佩奇    优衣库  直营+全球分仓  自有电商+天猫  HEATTECH、轻型羽绒服    361°儿童  运动渠道下沉  主流电商  运动赛事+低价    BONPOINT  中国</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9.3 经营业绩</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品牌(集团)  2024营收  同比  2025年1-9月  备注      森马服饰  146.26亿元  +7.06%  98.44亿元(+4.74%)  童装占70%    美邦服饰(对照)  —  —  2024Q1-Q3营收5.3</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10.1 增长机会(推断属性：基于公开素材的合理外推)</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客单价提升空间 ：成人休闲毛利率从2024年35.5%升至2025H1 43.22%，反映品质化升级带动结构改善；</a:t>
            </a:r>
            <a:endParaRPr lang="en-US" sz="1500" dirty="0"/>
          </a:p>
          <a:p>
            <a:pPr marL="342900" indent="-342900">
              <a:lnSpc>
                <a:spcPct val="150000"/>
              </a:lnSpc>
              <a:buSzPct val="100000"/>
              <a:buChar char="•"/>
            </a:pPr>
            <a:r>
              <a:rPr lang="en-US" sz="1500" dirty="0">
                <a:solidFill>
                  <a:srgbClr val="1A2233"/>
                </a:solidFill>
              </a:rPr>
              <a:t>羽绒全面升级(90%绒子含量/700+蓬松度/1000+清洁度)为单价上行打开窗口。</a:t>
            </a:r>
            <a:endParaRPr lang="en-US" sz="1500" dirty="0"/>
          </a:p>
          <a:p>
            <a:pPr marL="342900" indent="-342900">
              <a:lnSpc>
                <a:spcPct val="150000"/>
              </a:lnSpc>
              <a:buSzPct val="100000"/>
              <a:buChar char="•"/>
            </a:pPr>
            <a:r>
              <a:rPr lang="en-US" sz="1500" dirty="0">
                <a:solidFill>
                  <a:srgbClr val="1A2233"/>
                </a:solidFill>
              </a:rPr>
              <a:t>渠道结构优化 ：购物中心、奥莱占比提升；</a:t>
            </a:r>
            <a:endParaRPr lang="en-US" sz="1500" dirty="0"/>
          </a:p>
          <a:p>
            <a:pPr marL="342900" indent="-342900">
              <a:lnSpc>
                <a:spcPct val="150000"/>
              </a:lnSpc>
              <a:buSzPct val="100000"/>
              <a:buChar char="•"/>
            </a:pPr>
            <a:r>
              <a:rPr lang="en-US" sz="1500" dirty="0">
                <a:solidFill>
                  <a:srgbClr val="1A2233"/>
                </a:solidFill>
              </a:rPr>
              <a:t>F1落位占比30.56%；</a:t>
            </a:r>
            <a:endParaRPr lang="en-US" sz="1500" dirty="0"/>
          </a:p>
          <a:p>
            <a:pPr marL="342900" indent="-342900">
              <a:lnSpc>
                <a:spcPct val="150000"/>
              </a:lnSpc>
              <a:buSzPct val="100000"/>
              <a:buChar char="•"/>
            </a:pPr>
            <a:r>
              <a:rPr lang="en-US" sz="1500" dirty="0">
                <a:solidFill>
                  <a:srgbClr val="1A2233"/>
                </a:solidFill>
              </a:rPr>
              <a:t>2026年30家城市旗舰店+2-3家全球旗舰店计划带来形象与坪效的潜在抬升。</a:t>
            </a:r>
            <a:endParaRPr lang="en-US" sz="1500" dirty="0"/>
          </a:p>
          <a:p>
            <a:pPr marL="342900" indent="-342900">
              <a:lnSpc>
                <a:spcPct val="150000"/>
              </a:lnSpc>
              <a:buSzPct val="100000"/>
              <a:buChar char="•"/>
            </a:pPr>
            <a:r>
              <a:rPr lang="en-US" sz="1500" dirty="0">
                <a:solidFill>
                  <a:srgbClr val="1A2233"/>
                </a:solidFill>
              </a:rPr>
              <a:t>直播/短视频渠道渗透 ：&amp;quot;</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10.2 潜在风险(推断属性：部分为公司财报原文，部分为研究者推断)</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单品牌依赖风险 ：童装板块贡献&amp;gt;</a:t>
            </a:r>
            <a:endParaRPr lang="en-US" sz="1500" dirty="0"/>
          </a:p>
          <a:p>
            <a:pPr marL="342900" indent="-342900">
              <a:lnSpc>
                <a:spcPct val="150000"/>
              </a:lnSpc>
              <a:buSzPct val="100000"/>
              <a:buChar char="•"/>
            </a:pPr>
            <a:r>
              <a:rPr lang="en-US" sz="1500" dirty="0">
                <a:solidFill>
                  <a:srgbClr val="1A2233"/>
                </a:solidFill>
              </a:rPr>
              <a:t>70%收入，巴拉巴拉一旦承压将直接影响集团业绩；</a:t>
            </a:r>
            <a:endParaRPr lang="en-US" sz="1500" dirty="0"/>
          </a:p>
          <a:p>
            <a:pPr marL="342900" indent="-342900">
              <a:lnSpc>
                <a:spcPct val="150000"/>
              </a:lnSpc>
              <a:buSzPct val="100000"/>
              <a:buChar char="•"/>
            </a:pPr>
            <a:r>
              <a:rPr lang="en-US" sz="1500" dirty="0">
                <a:solidFill>
                  <a:srgbClr val="1A2233"/>
                </a:solidFill>
              </a:rPr>
              <a:t>新生儿下滑叠加安奈儿、361°儿童分流下沉重创这一基本盘。</a:t>
            </a:r>
            <a:endParaRPr lang="en-US" sz="1500" dirty="0"/>
          </a:p>
          <a:p>
            <a:pPr marL="342900" indent="-342900">
              <a:lnSpc>
                <a:spcPct val="150000"/>
              </a:lnSpc>
              <a:buSzPct val="100000"/>
              <a:buChar char="•"/>
            </a:pPr>
            <a:r>
              <a:rPr lang="en-US" sz="1500" dirty="0">
                <a:solidFill>
                  <a:srgbClr val="1A2233"/>
                </a:solidFill>
              </a:rPr>
              <a:t>增收不增利风险 ：2025年1-9月销售费用+18.62%、三费合计+14.13%，远超营收+4.74%，导致净利润-28.9%；</a:t>
            </a:r>
            <a:endParaRPr lang="en-US" sz="1500" dirty="0"/>
          </a:p>
          <a:p>
            <a:pPr marL="342900" indent="-342900">
              <a:lnSpc>
                <a:spcPct val="150000"/>
              </a:lnSpc>
              <a:buSzPct val="100000"/>
              <a:buChar char="•"/>
            </a:pPr>
            <a:r>
              <a:rPr lang="en-US" sz="1500" dirty="0">
                <a:solidFill>
                  <a:srgbClr val="1A2233"/>
                </a:solidFill>
              </a:rPr>
              <a:t>若费用刚性延续，盈利修复承压。</a:t>
            </a:r>
            <a:endParaRPr lang="en-US" sz="1500" dirty="0"/>
          </a:p>
          <a:p>
            <a:pPr marL="342900" indent="-342900">
              <a:lnSpc>
                <a:spcPct val="150000"/>
              </a:lnSpc>
              <a:buSzPct val="100000"/>
              <a:buChar char="•"/>
            </a:pPr>
            <a:r>
              <a:rPr lang="en-US" sz="1500" dirty="0">
                <a:solidFill>
                  <a:srgbClr val="1A2233"/>
                </a:solidFill>
              </a:rPr>
              <a:t>加盟商经营压力风险 ：2024年加盟开关店比≈1:1、直营单店收入-21.7%、加盟月均收入仅约7万元，加盟体系存在动摇风险。</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10.3 关键假设与待验证问题</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假设/问题  状态  验证方式      童装高毛利可持续  推断  需观察2026年新生儿数据与巴拉巴拉定价动作    羽绒全面升级带动客单价提升  待验证  需跟踪2026年Q1成人线毛利与销售数据    直播业务规模化贡献利润  待验</a:t>
            </a:r>
            <a:endParaRPr lang="en-US" sz="1500" dirty="0"/>
          </a:p>
          <a:p>
            <a:pPr marL="342900" indent="-342900">
              <a:lnSpc>
                <a:spcPct val="150000"/>
              </a:lnSpc>
              <a:buSzPct val="100000"/>
              <a:buChar char="•"/>
            </a:pPr>
            <a:r>
              <a:rPr lang="en-US" sz="1500" dirty="0">
                <a:solidFill>
                  <a:srgbClr val="1A2233"/>
                </a:solidFill>
              </a:rPr>
              <a:t>我嘉业务&amp;quot;</a:t>
            </a:r>
            <a:endParaRPr lang="en-US" sz="1500" dirty="0"/>
          </a:p>
          <a:p>
            <a:pPr marL="342900" indent="-342900">
              <a:lnSpc>
                <a:spcPct val="150000"/>
              </a:lnSpc>
              <a:buSzPct val="100000"/>
              <a:buChar char="•"/>
            </a:pPr>
            <a:r>
              <a:rPr lang="en-US" sz="1500" dirty="0">
                <a:solidFill>
                  <a:srgbClr val="1A2233"/>
                </a:solidFill>
              </a:rPr>
              <a:t>完整GMV与利润率    海外门店100家+可持续放量  推断  需披露海外收入及盈利能力    2026年净增300+家门店目标  二手转述(国泰君安研报口径，素材标注unverified)  跟踪公司年报披露    巴拉巴拉三四线&amp;qu</a:t>
            </a:r>
            <a:endParaRPr lang="en-US" sz="1500" dirty="0"/>
          </a:p>
          <a:p>
            <a:pPr marL="342900" indent="-342900">
              <a:lnSpc>
                <a:spcPct val="150000"/>
              </a:lnSpc>
              <a:buSzPct val="100000"/>
              <a:buChar char="•"/>
            </a:pPr>
            <a:r>
              <a:rPr lang="en-US" sz="1500" dirty="0">
                <a:solidFill>
                  <a:srgbClr val="1A2233"/>
                </a:solidFill>
              </a:rPr>
              <a:t>一家独大&amp;quot;</a:t>
            </a:r>
            <a:endParaRPr lang="en-US" sz="1500" dirty="0"/>
          </a:p>
          <a:p>
            <a:pPr marL="342900" indent="-342900">
              <a:lnSpc>
                <a:spcPct val="150000"/>
              </a:lnSpc>
              <a:buSzPct val="100000"/>
              <a:buChar char="•"/>
            </a:pPr>
            <a:r>
              <a:rPr lang="en-US" sz="1500" dirty="0">
                <a:solidFill>
                  <a:srgbClr val="1A2233"/>
                </a:solidFill>
              </a:rPr>
              <a:t>是否仍成立  推断(财中社口径)  需第三方市占数据验证</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822960" y="658368"/>
            <a:ext cx="411480" cy="54864"/>
          </a:xfrm>
          <a:prstGeom prst="rect">
            <a:avLst/>
          </a:prstGeom>
          <a:solidFill>
            <a:srgbClr val="1E4E8C"/>
          </a:solidFill>
          <a:ln/>
        </p:spPr>
      </p:sp>
      <p:sp>
        <p:nvSpPr>
          <p:cNvPr id="3" name="Text 1"/>
          <p:cNvSpPr/>
          <p:nvPr/>
        </p:nvSpPr>
        <p:spPr>
          <a:xfrm>
            <a:off x="822960" y="822960"/>
            <a:ext cx="10515600" cy="822960"/>
          </a:xfrm>
          <a:prstGeom prst="rect">
            <a:avLst/>
          </a:prstGeom>
          <a:noFill/>
          <a:ln/>
        </p:spPr>
        <p:txBody>
          <a:bodyPr wrap="square" rtlCol="0" anchor="ctr"/>
          <a:lstStyle/>
          <a:p>
            <a:pPr indent="0" marL="0">
              <a:buNone/>
            </a:pPr>
            <a:r>
              <a:rPr lang="en-US" sz="2600" b="1" dirty="0">
                <a:solidFill>
                  <a:srgbClr val="1A2233"/>
                </a:solidFill>
              </a:rPr>
              <a:t>十一、口径与局限披露</a:t>
            </a:r>
            <a:endParaRPr lang="en-US" sz="2600" dirty="0"/>
          </a:p>
        </p:txBody>
      </p:sp>
      <p:sp>
        <p:nvSpPr>
          <p:cNvPr id="4" name="Text 2"/>
          <p:cNvSpPr/>
          <p:nvPr/>
        </p:nvSpPr>
        <p:spPr>
          <a:xfrm>
            <a:off x="914400" y="2148840"/>
            <a:ext cx="10332720" cy="4023360"/>
          </a:xfrm>
          <a:prstGeom prst="rect">
            <a:avLst/>
          </a:prstGeom>
          <a:noFill/>
          <a:ln/>
        </p:spPr>
        <p:txBody>
          <a:bodyPr wrap="square" rtlCol="0" anchor="ctr"/>
          <a:lstStyle/>
          <a:p>
            <a:pPr marL="342900" indent="-342900">
              <a:lnSpc>
                <a:spcPct val="150000"/>
              </a:lnSpc>
              <a:buSzPct val="100000"/>
              <a:buChar char="•"/>
            </a:pPr>
            <a:r>
              <a:rPr lang="en-US" sz="1500" dirty="0">
                <a:solidFill>
                  <a:srgbClr val="1A2233"/>
                </a:solidFill>
              </a:rPr>
              <a:t>数据时间口径 ：财务数据以年报、季报披露为准(2024年完整年度、2025年1-9月为最近期完整数据)；</a:t>
            </a:r>
            <a:endParaRPr lang="en-US" sz="1500" dirty="0"/>
          </a:p>
          <a:p>
            <a:pPr marL="342900" indent="-342900">
              <a:lnSpc>
                <a:spcPct val="150000"/>
              </a:lnSpc>
              <a:buSzPct val="100000"/>
              <a:buChar char="•"/>
            </a:pPr>
            <a:r>
              <a:rPr lang="en-US" sz="1500" dirty="0">
                <a:solidFill>
                  <a:srgbClr val="1A2233"/>
                </a:solidFill>
              </a:rPr>
              <a:t>门店与营销数据以来源标注日期为准。</a:t>
            </a:r>
            <a:endParaRPr lang="en-US" sz="1500" dirty="0"/>
          </a:p>
          <a:p>
            <a:pPr marL="342900" indent="-342900">
              <a:lnSpc>
                <a:spcPct val="150000"/>
              </a:lnSpc>
              <a:buSzPct val="100000"/>
              <a:buChar char="•"/>
            </a:pPr>
            <a:r>
              <a:rPr lang="en-US" sz="1500" dirty="0">
                <a:solidFill>
                  <a:srgbClr val="1A2233"/>
                </a:solidFill>
              </a:rPr>
              <a:t>行业份额 ：童装份额&amp;quot;</a:t>
            </a:r>
            <a:endParaRPr lang="en-US" sz="1500" dirty="0"/>
          </a:p>
          <a:p>
            <a:pPr marL="342900" indent="-342900">
              <a:lnSpc>
                <a:spcPct val="150000"/>
              </a:lnSpc>
              <a:buSzPct val="100000"/>
              <a:buChar char="•"/>
            </a:pPr>
            <a:r>
              <a:rPr lang="en-US" sz="1500" dirty="0">
                <a:solidFill>
                  <a:srgbClr val="1A2233"/>
                </a:solidFill>
              </a:rPr>
              <a:t>国内第一/亚洲第一&amp;quot;</a:t>
            </a:r>
            <a:endParaRPr lang="en-US" sz="1500" dirty="0"/>
          </a:p>
          <a:p>
            <a:pPr marL="342900" indent="-342900">
              <a:lnSpc>
                <a:spcPct val="150000"/>
              </a:lnSpc>
              <a:buSzPct val="100000"/>
              <a:buChar char="•"/>
            </a:pPr>
            <a:r>
              <a:rPr lang="en-US" sz="1500" dirty="0">
                <a:solidFill>
                  <a:srgbClr val="1A2233"/>
                </a:solidFill>
              </a:rPr>
              <a:t>为欧睿国际、财中社等二手转述，公司未直接披露份额数字。</a:t>
            </a:r>
            <a:endParaRPr lang="en-US" sz="1500" dirty="0"/>
          </a:p>
          <a:p>
            <a:pPr marL="342900" indent="-342900">
              <a:lnSpc>
                <a:spcPct val="150000"/>
              </a:lnSpc>
              <a:buSzPct val="100000"/>
              <a:buChar char="•"/>
            </a:pPr>
            <a:r>
              <a:rPr lang="en-US" sz="1500" dirty="0">
                <a:solidFill>
                  <a:srgbClr val="1A2233"/>
                </a:solidFill>
              </a:rPr>
              <a:t>缺项披露 ：以下指标在输入素材中无可靠数据，按要求如实说明：  </a:t>
            </a:r>
            <a:endParaRPr lang="en-US" sz="1500" dirty="0"/>
          </a:p>
          <a:p>
            <a:pPr marL="342900" indent="-342900">
              <a:lnSpc>
                <a:spcPct val="150000"/>
              </a:lnSpc>
              <a:buSzPct val="100000"/>
              <a:buChar char="•"/>
            </a:pPr>
            <a:r>
              <a:rPr lang="en-US" sz="1500" dirty="0">
                <a:solidFill>
                  <a:srgbClr val="1A2233"/>
                </a:solidFill>
              </a:rPr>
              <a:t>   会员总数、会员复购率、私域GMV/占比 ——未在公开素材中提供。</a:t>
            </a:r>
            <a:endParaRPr lang="en-US" sz="1500" dirty="0"/>
          </a:p>
        </p:txBody>
      </p:sp>
      <p:sp>
        <p:nvSpPr>
          <p:cNvPr id="25" name="Slide Number Placeholder 0"/>
          <p:cNvSpPr>
            <a:spLocks noGrp="1"/>
          </p:cNvSpPr>
          <p:nvPr>
            <p:ph type="sldNum" sz="quarter" idx="4294967295"/>
          </p:nvPr>
        </p:nvSpPr>
        <p:spPr>
          <a:xfrm>
            <a:off x="11430000" y="644652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9AA3B2"/>
                </a:solidFill>
              </a:defRPr>
            </a:lvl1pPr>
          </a:lstStyle>
          <a:p>
            <a:pPr algn="l"/>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822960" y="502920"/>
            <a:ext cx="10515600" cy="731520"/>
          </a:xfrm>
          <a:prstGeom prst="rect">
            <a:avLst/>
          </a:prstGeom>
          <a:noFill/>
          <a:ln/>
        </p:spPr>
        <p:txBody>
          <a:bodyPr wrap="square" rtlCol="0" anchor="ctr"/>
          <a:lstStyle/>
          <a:p>
            <a:pPr indent="0" marL="0">
              <a:buNone/>
            </a:pPr>
            <a:r>
              <a:rPr lang="en-US" sz="2800" b="1" dirty="0">
                <a:solidFill>
                  <a:srgbClr val="1A2233"/>
                </a:solidFill>
              </a:rPr>
              <a:t>证据与核查</a:t>
            </a:r>
            <a:endParaRPr lang="en-US" sz="2800" dirty="0"/>
          </a:p>
        </p:txBody>
      </p:sp>
      <p:sp>
        <p:nvSpPr>
          <p:cNvPr id="3" name="Text 1"/>
          <p:cNvSpPr/>
          <p:nvPr/>
        </p:nvSpPr>
        <p:spPr>
          <a:xfrm>
            <a:off x="822960" y="1828800"/>
            <a:ext cx="1920240" cy="1005840"/>
          </a:xfrm>
          <a:prstGeom prst="rect">
            <a:avLst/>
          </a:prstGeom>
          <a:noFill/>
          <a:ln/>
        </p:spPr>
        <p:txBody>
          <a:bodyPr wrap="square" rtlCol="0" anchor="ctr"/>
          <a:lstStyle/>
          <a:p>
            <a:pPr algn="ctr" indent="0" marL="0">
              <a:buNone/>
            </a:pPr>
            <a:r>
              <a:rPr lang="en-US" sz="3600" b="1" dirty="0">
                <a:solidFill>
                  <a:srgbClr val="1E4E8C"/>
                </a:solidFill>
              </a:rPr>
              <a:t>126</a:t>
            </a:r>
            <a:endParaRPr lang="en-US" sz="3600" dirty="0"/>
          </a:p>
        </p:txBody>
      </p:sp>
      <p:sp>
        <p:nvSpPr>
          <p:cNvPr id="4" name="Text 2"/>
          <p:cNvSpPr/>
          <p:nvPr/>
        </p:nvSpPr>
        <p:spPr>
          <a:xfrm>
            <a:off x="822960" y="2834640"/>
            <a:ext cx="1920240" cy="457200"/>
          </a:xfrm>
          <a:prstGeom prst="rect">
            <a:avLst/>
          </a:prstGeom>
          <a:noFill/>
          <a:ln/>
        </p:spPr>
        <p:txBody>
          <a:bodyPr wrap="square" rtlCol="0" anchor="ctr"/>
          <a:lstStyle/>
          <a:p>
            <a:pPr algn="ctr" indent="0" marL="0">
              <a:buNone/>
            </a:pPr>
            <a:r>
              <a:rPr lang="en-US" sz="1250" dirty="0">
                <a:solidFill>
                  <a:srgbClr val="5B6474"/>
                </a:solidFill>
              </a:rPr>
              <a:t>主张总数</a:t>
            </a:r>
            <a:endParaRPr lang="en-US" sz="1250" dirty="0"/>
          </a:p>
        </p:txBody>
      </p:sp>
      <p:sp>
        <p:nvSpPr>
          <p:cNvPr id="5" name="Text 3"/>
          <p:cNvSpPr/>
          <p:nvPr/>
        </p:nvSpPr>
        <p:spPr>
          <a:xfrm>
            <a:off x="2980944" y="1828800"/>
            <a:ext cx="1920240" cy="1005840"/>
          </a:xfrm>
          <a:prstGeom prst="rect">
            <a:avLst/>
          </a:prstGeom>
          <a:noFill/>
          <a:ln/>
        </p:spPr>
        <p:txBody>
          <a:bodyPr wrap="square" rtlCol="0" anchor="ctr"/>
          <a:lstStyle/>
          <a:p>
            <a:pPr algn="ctr" indent="0" marL="0">
              <a:buNone/>
            </a:pPr>
            <a:r>
              <a:rPr lang="en-US" sz="3600" b="1" dirty="0">
                <a:solidFill>
                  <a:srgbClr val="1E4E8C"/>
                </a:solidFill>
              </a:rPr>
              <a:t>110</a:t>
            </a:r>
            <a:endParaRPr lang="en-US" sz="3600" dirty="0"/>
          </a:p>
        </p:txBody>
      </p:sp>
      <p:sp>
        <p:nvSpPr>
          <p:cNvPr id="6" name="Text 4"/>
          <p:cNvSpPr/>
          <p:nvPr/>
        </p:nvSpPr>
        <p:spPr>
          <a:xfrm>
            <a:off x="2980944" y="2834640"/>
            <a:ext cx="1920240" cy="457200"/>
          </a:xfrm>
          <a:prstGeom prst="rect">
            <a:avLst/>
          </a:prstGeom>
          <a:noFill/>
          <a:ln/>
        </p:spPr>
        <p:txBody>
          <a:bodyPr wrap="square" rtlCol="0" anchor="ctr"/>
          <a:lstStyle/>
          <a:p>
            <a:pPr algn="ctr" indent="0" marL="0">
              <a:buNone/>
            </a:pPr>
            <a:r>
              <a:rPr lang="en-US" sz="1250" dirty="0">
                <a:solidFill>
                  <a:srgbClr val="5B6474"/>
                </a:solidFill>
              </a:rPr>
              <a:t>引用已核查</a:t>
            </a:r>
            <a:endParaRPr lang="en-US" sz="1250" dirty="0"/>
          </a:p>
        </p:txBody>
      </p:sp>
      <p:sp>
        <p:nvSpPr>
          <p:cNvPr id="7" name="Text 5"/>
          <p:cNvSpPr/>
          <p:nvPr/>
        </p:nvSpPr>
        <p:spPr>
          <a:xfrm>
            <a:off x="5138928" y="1828800"/>
            <a:ext cx="1920240" cy="1005840"/>
          </a:xfrm>
          <a:prstGeom prst="rect">
            <a:avLst/>
          </a:prstGeom>
          <a:noFill/>
          <a:ln/>
        </p:spPr>
        <p:txBody>
          <a:bodyPr wrap="square" rtlCol="0" anchor="ctr"/>
          <a:lstStyle/>
          <a:p>
            <a:pPr algn="ctr" indent="0" marL="0">
              <a:buNone/>
            </a:pPr>
            <a:r>
              <a:rPr lang="en-US" sz="3600" b="1" dirty="0">
                <a:solidFill>
                  <a:srgbClr val="1E4E8C"/>
                </a:solidFill>
              </a:rPr>
              <a:t>13</a:t>
            </a:r>
            <a:endParaRPr lang="en-US" sz="3600" dirty="0"/>
          </a:p>
        </p:txBody>
      </p:sp>
      <p:sp>
        <p:nvSpPr>
          <p:cNvPr id="8" name="Text 6"/>
          <p:cNvSpPr/>
          <p:nvPr/>
        </p:nvSpPr>
        <p:spPr>
          <a:xfrm>
            <a:off x="5138928" y="2834640"/>
            <a:ext cx="1920240" cy="457200"/>
          </a:xfrm>
          <a:prstGeom prst="rect">
            <a:avLst/>
          </a:prstGeom>
          <a:noFill/>
          <a:ln/>
        </p:spPr>
        <p:txBody>
          <a:bodyPr wrap="square" rtlCol="0" anchor="ctr"/>
          <a:lstStyle/>
          <a:p>
            <a:pPr algn="ctr" indent="0" marL="0">
              <a:buNone/>
            </a:pPr>
            <a:r>
              <a:rPr lang="en-US" sz="1250" dirty="0">
                <a:solidFill>
                  <a:srgbClr val="5B6474"/>
                </a:solidFill>
              </a:rPr>
              <a:t>推断(已标注)</a:t>
            </a:r>
            <a:endParaRPr lang="en-US" sz="1250" dirty="0"/>
          </a:p>
        </p:txBody>
      </p:sp>
      <p:sp>
        <p:nvSpPr>
          <p:cNvPr id="9" name="Text 7"/>
          <p:cNvSpPr/>
          <p:nvPr/>
        </p:nvSpPr>
        <p:spPr>
          <a:xfrm>
            <a:off x="7296912" y="1828800"/>
            <a:ext cx="1920240" cy="1005840"/>
          </a:xfrm>
          <a:prstGeom prst="rect">
            <a:avLst/>
          </a:prstGeom>
          <a:noFill/>
          <a:ln/>
        </p:spPr>
        <p:txBody>
          <a:bodyPr wrap="square" rtlCol="0" anchor="ctr"/>
          <a:lstStyle/>
          <a:p>
            <a:pPr algn="ctr" indent="0" marL="0">
              <a:buNone/>
            </a:pPr>
            <a:r>
              <a:rPr lang="en-US" sz="3600" b="1" dirty="0">
                <a:solidFill>
                  <a:srgbClr val="1E4E8C"/>
                </a:solidFill>
              </a:rPr>
              <a:t>16</a:t>
            </a:r>
            <a:endParaRPr lang="en-US" sz="3600" dirty="0"/>
          </a:p>
        </p:txBody>
      </p:sp>
      <p:sp>
        <p:nvSpPr>
          <p:cNvPr id="10" name="Text 8"/>
          <p:cNvSpPr/>
          <p:nvPr/>
        </p:nvSpPr>
        <p:spPr>
          <a:xfrm>
            <a:off x="7296912" y="2834640"/>
            <a:ext cx="1920240" cy="457200"/>
          </a:xfrm>
          <a:prstGeom prst="rect">
            <a:avLst/>
          </a:prstGeom>
          <a:noFill/>
          <a:ln/>
        </p:spPr>
        <p:txBody>
          <a:bodyPr wrap="square" rtlCol="0" anchor="ctr"/>
          <a:lstStyle/>
          <a:p>
            <a:pPr algn="ctr" indent="0" marL="0">
              <a:buNone/>
            </a:pPr>
            <a:r>
              <a:rPr lang="en-US" sz="1250" dirty="0">
                <a:solidFill>
                  <a:srgbClr val="5B6474"/>
                </a:solidFill>
              </a:rPr>
              <a:t>未验证(已降级)</a:t>
            </a:r>
            <a:endParaRPr lang="en-US" sz="1250" dirty="0"/>
          </a:p>
        </p:txBody>
      </p:sp>
      <p:sp>
        <p:nvSpPr>
          <p:cNvPr id="11" name="Text 9"/>
          <p:cNvSpPr/>
          <p:nvPr/>
        </p:nvSpPr>
        <p:spPr>
          <a:xfrm>
            <a:off x="9454896" y="1828800"/>
            <a:ext cx="1920240" cy="1005840"/>
          </a:xfrm>
          <a:prstGeom prst="rect">
            <a:avLst/>
          </a:prstGeom>
          <a:noFill/>
          <a:ln/>
        </p:spPr>
        <p:txBody>
          <a:bodyPr wrap="square" rtlCol="0" anchor="ctr"/>
          <a:lstStyle/>
          <a:p>
            <a:pPr algn="ctr" indent="0" marL="0">
              <a:buNone/>
            </a:pPr>
            <a:r>
              <a:rPr lang="en-US" sz="3600" b="1" dirty="0">
                <a:solidFill>
                  <a:srgbClr val="1E4E8C"/>
                </a:solidFill>
              </a:rPr>
              <a:t>11</a:t>
            </a:r>
            <a:endParaRPr lang="en-US" sz="3600" dirty="0"/>
          </a:p>
        </p:txBody>
      </p:sp>
      <p:sp>
        <p:nvSpPr>
          <p:cNvPr id="12" name="Text 10"/>
          <p:cNvSpPr/>
          <p:nvPr/>
        </p:nvSpPr>
        <p:spPr>
          <a:xfrm>
            <a:off x="9454896" y="2834640"/>
            <a:ext cx="1920240" cy="457200"/>
          </a:xfrm>
          <a:prstGeom prst="rect">
            <a:avLst/>
          </a:prstGeom>
          <a:noFill/>
          <a:ln/>
        </p:spPr>
        <p:txBody>
          <a:bodyPr wrap="square" rtlCol="0" anchor="ctr"/>
          <a:lstStyle/>
          <a:p>
            <a:pPr algn="ctr" indent="0" marL="0">
              <a:buNone/>
            </a:pPr>
            <a:r>
              <a:rPr lang="en-US" sz="1250" dirty="0">
                <a:solidFill>
                  <a:srgbClr val="5B6474"/>
                </a:solidFill>
              </a:rPr>
              <a:t>来源快照</a:t>
            </a:r>
            <a:endParaRPr lang="en-US" sz="1250" dirty="0"/>
          </a:p>
        </p:txBody>
      </p:sp>
      <p:sp>
        <p:nvSpPr>
          <p:cNvPr id="13" name="Text 11"/>
          <p:cNvSpPr/>
          <p:nvPr/>
        </p:nvSpPr>
        <p:spPr>
          <a:xfrm>
            <a:off x="822960" y="4023360"/>
            <a:ext cx="10515600" cy="548640"/>
          </a:xfrm>
          <a:prstGeom prst="rect">
            <a:avLst/>
          </a:prstGeom>
          <a:noFill/>
          <a:ln/>
        </p:spPr>
        <p:txBody>
          <a:bodyPr wrap="square" rtlCol="0" anchor="ctr"/>
          <a:lstStyle/>
          <a:p>
            <a:pPr indent="0" marL="0">
              <a:buNone/>
            </a:pPr>
            <a:r>
              <a:rPr lang="en-US" sz="1300" dirty="0">
                <a:solidFill>
                  <a:srgbClr val="5B6474"/>
                </a:solidFill>
              </a:rPr>
              <a:t>全部结论可回溯至来源快照原文;未通过核查的主张已降级并披露。</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822960" y="502920"/>
            <a:ext cx="10515600" cy="731520"/>
          </a:xfrm>
          <a:prstGeom prst="rect">
            <a:avLst/>
          </a:prstGeom>
          <a:noFill/>
          <a:ln/>
        </p:spPr>
        <p:txBody>
          <a:bodyPr wrap="square" rtlCol="0" anchor="ctr"/>
          <a:lstStyle/>
          <a:p>
            <a:pPr indent="0" marL="0">
              <a:buNone/>
            </a:pPr>
            <a:r>
              <a:rPr lang="en-US" sz="2800" b="1" dirty="0">
                <a:solidFill>
                  <a:srgbClr val="1A2233"/>
                </a:solidFill>
              </a:rPr>
              <a:t>限制与来源</a:t>
            </a:r>
            <a:endParaRPr lang="en-US" sz="2800" dirty="0"/>
          </a:p>
        </p:txBody>
      </p:sp>
      <p:sp>
        <p:nvSpPr>
          <p:cNvPr id="3" name="Text 1"/>
          <p:cNvSpPr/>
          <p:nvPr/>
        </p:nvSpPr>
        <p:spPr>
          <a:xfrm>
            <a:off x="914400" y="1417320"/>
            <a:ext cx="5760720" cy="4206240"/>
          </a:xfrm>
          <a:prstGeom prst="rect">
            <a:avLst/>
          </a:prstGeom>
          <a:noFill/>
          <a:ln/>
        </p:spPr>
        <p:txBody>
          <a:bodyPr wrap="square" rtlCol="0" anchor="ctr"/>
          <a:lstStyle/>
          <a:p>
            <a:pPr marL="342900" indent="-342900">
              <a:lnSpc>
                <a:spcPct val="140000"/>
              </a:lnSpc>
              <a:buSzPct val="100000"/>
              <a:buChar char="•"/>
            </a:pPr>
            <a:r>
              <a:rPr lang="en-US" sz="1250" dirty="0">
                <a:solidFill>
                  <a:srgbClr val="8A6A1F"/>
                </a:solidFill>
              </a:rPr>
              <a:t>以下主张引用核查未通过,已降级为未验证:cl:q1:snap:https://www.news.cn/fashion/20250408/ffa3b855744c41728c8b52b7c15614dc/c.html:8、</a:t>
            </a:r>
            <a:endParaRPr lang="en-US" sz="1250" dirty="0"/>
          </a:p>
          <a:p>
            <a:pPr marL="342900" indent="-342900">
              <a:lnSpc>
                <a:spcPct val="140000"/>
              </a:lnSpc>
              <a:buSzPct val="100000"/>
              <a:buChar char="•"/>
            </a:pPr>
            <a:r>
              <a:rPr lang="en-US" sz="1250" dirty="0">
                <a:solidFill>
                  <a:srgbClr val="8A6A1F"/>
                </a:solidFill>
              </a:rPr>
              <a:t>以下主张的引句不支持其转述(语义蕴涵未通过),已降级为未验证:cl:q2:snap:https://baike.com/wikiid/3973578097561747729:3、cl:q4:snap:https://m.</a:t>
            </a:r>
            <a:endParaRPr lang="en-US" sz="1250" dirty="0"/>
          </a:p>
          <a:p>
            <a:pPr marL="342900" indent="-342900">
              <a:lnSpc>
                <a:spcPct val="140000"/>
              </a:lnSpc>
              <a:buSzPct val="100000"/>
              <a:buChar char="•"/>
            </a:pPr>
            <a:r>
              <a:rPr lang="en-US" sz="1250" dirty="0">
                <a:solidFill>
                  <a:srgbClr val="8A6A1F"/>
                </a:solidFill>
              </a:rPr>
              <a:t>以下主张仅有 C 级信源(社媒/自媒体/未知来源)支撑,置信度低:cl:q1:snap:https://www.news.cn/fashion/20250408/ffa3b855744c41728c8b52b7c1561</a:t>
            </a:r>
            <a:endParaRPr lang="en-US" sz="1250" dirty="0"/>
          </a:p>
          <a:p>
            <a:pPr marL="342900" indent="-342900">
              <a:lnSpc>
                <a:spcPct val="140000"/>
              </a:lnSpc>
              <a:buSzPct val="100000"/>
              <a:buChar char="•"/>
            </a:pPr>
            <a:r>
              <a:rPr lang="en-US" sz="1250" dirty="0">
                <a:solidFill>
                  <a:srgbClr val="8A6A1F"/>
                </a:solidFill>
              </a:rPr>
              <a:t>预算上限到达,部分采证未完成</a:t>
            </a:r>
            <a:endParaRPr lang="en-US" sz="1250" dirty="0"/>
          </a:p>
          <a:p>
            <a:pPr marL="342900" indent="-342900">
              <a:lnSpc>
                <a:spcPct val="140000"/>
              </a:lnSpc>
              <a:buSzPct val="100000"/>
              <a:buChar char="•"/>
            </a:pPr>
            <a:r>
              <a:rPr lang="en-US" sz="1250" dirty="0">
                <a:solidFill>
                  <a:srgbClr val="8A6A1F"/>
                </a:solidFill>
              </a:rPr>
              <a:t>存在引用/蕴涵/数值核查未通过的关键结论</a:t>
            </a:r>
            <a:endParaRPr lang="en-US" sz="1250" dirty="0"/>
          </a:p>
        </p:txBody>
      </p:sp>
      <p:sp>
        <p:nvSpPr>
          <p:cNvPr id="4" name="Text 2"/>
          <p:cNvSpPr/>
          <p:nvPr/>
        </p:nvSpPr>
        <p:spPr>
          <a:xfrm>
            <a:off x="6858000" y="1417320"/>
            <a:ext cx="4572000" cy="4206240"/>
          </a:xfrm>
          <a:prstGeom prst="rect">
            <a:avLst/>
          </a:prstGeom>
          <a:noFill/>
          <a:ln/>
        </p:spPr>
        <p:txBody>
          <a:bodyPr wrap="square" rtlCol="0" anchor="ctr"/>
          <a:lstStyle/>
          <a:p>
            <a:pPr marL="342900" indent="-342900">
              <a:lnSpc>
                <a:spcPct val="135000"/>
              </a:lnSpc>
              <a:buSzPct val="100000"/>
              <a:buChar char="•"/>
            </a:pPr>
            <a:r>
              <a:rPr lang="en-US" sz="1050" dirty="0">
                <a:solidFill>
                  <a:srgbClr val="5B6474"/>
                </a:solidFill>
              </a:rPr>
              <a:t>"link": "", — https://www.news.cn/fashion/20250408/ffa3b855744c41728c8b52b</a:t>
            </a:r>
            <a:endParaRPr lang="en-US" sz="1050" dirty="0"/>
          </a:p>
          <a:p>
            <a:pPr marL="342900" indent="-342900">
              <a:lnSpc>
                <a:spcPct val="135000"/>
              </a:lnSpc>
              <a:buSzPct val="100000"/>
              <a:buChar char="•"/>
            </a:pPr>
            <a:r>
              <a:rPr lang="en-US" sz="1050" dirty="0">
                <a:solidFill>
                  <a:srgbClr val="5B6474"/>
                </a:solidFill>
              </a:rPr>
              <a:t>"link": "", — https://baike.com/wikiid/3973578097561747729</a:t>
            </a:r>
            <a:endParaRPr lang="en-US" sz="1050" dirty="0"/>
          </a:p>
          <a:p>
            <a:pPr marL="342900" indent="-342900">
              <a:lnSpc>
                <a:spcPct val="135000"/>
              </a:lnSpc>
              <a:buSzPct val="100000"/>
              <a:buChar char="•"/>
            </a:pPr>
            <a:r>
              <a:rPr lang="en-US" sz="1050" dirty="0">
                <a:solidFill>
                  <a:srgbClr val="5B6474"/>
                </a:solidFill>
              </a:rPr>
              <a:t>"link": "", — https://baike.baidu.com/item/Semir/8210548</a:t>
            </a:r>
            <a:endParaRPr lang="en-US" sz="1050" dirty="0"/>
          </a:p>
          <a:p>
            <a:pPr marL="342900" indent="-342900">
              <a:lnSpc>
                <a:spcPct val="135000"/>
              </a:lnSpc>
              <a:buSzPct val="100000"/>
              <a:buChar char="•"/>
            </a:pPr>
            <a:r>
              <a:rPr lang="en-US" sz="1050" dirty="0">
                <a:solidFill>
                  <a:srgbClr val="5B6474"/>
                </a:solidFill>
              </a:rPr>
              <a:t>"link": "", — https://m.sohu.com/a/953962835_250147</a:t>
            </a:r>
            <a:endParaRPr lang="en-US" sz="1050" dirty="0"/>
          </a:p>
          <a:p>
            <a:pPr marL="342900" indent="-342900">
              <a:lnSpc>
                <a:spcPct val="135000"/>
              </a:lnSpc>
              <a:buSzPct val="100000"/>
              <a:buChar char="•"/>
            </a:pPr>
            <a:r>
              <a:rPr lang="en-US" sz="1050" dirty="0">
                <a:solidFill>
                  <a:srgbClr val="5B6474"/>
                </a:solidFill>
              </a:rPr>
              <a:t>"link": "", — https://finance.sina.com.cn/tech/roll/2025-09-22/doc-infrkft</a:t>
            </a:r>
            <a:endParaRPr lang="en-US" sz="1050" dirty="0"/>
          </a:p>
          <a:p>
            <a:pPr marL="342900" indent="-342900">
              <a:lnSpc>
                <a:spcPct val="135000"/>
              </a:lnSpc>
              <a:buSzPct val="100000"/>
              <a:buChar char="•"/>
            </a:pPr>
            <a:r>
              <a:rPr lang="en-US" sz="1050" dirty="0">
                <a:solidFill>
                  <a:srgbClr val="5B6474"/>
                </a:solidFill>
              </a:rPr>
              <a:t>"link": "", — https://news.cfw.cn/v387378-1.htm</a:t>
            </a:r>
            <a:endParaRPr lang="en-US" sz="1050" dirty="0"/>
          </a:p>
          <a:p>
            <a:pPr marL="342900" indent="-342900">
              <a:lnSpc>
                <a:spcPct val="135000"/>
              </a:lnSpc>
              <a:buSzPct val="100000"/>
              <a:buChar char="•"/>
            </a:pPr>
            <a:r>
              <a:rPr lang="en-US" sz="1050" dirty="0">
                <a:solidFill>
                  <a:srgbClr val="5B6474"/>
                </a:solidFill>
              </a:rPr>
              <a:t>"link": "", — https://news.qq.com/rain/a/20250408A05HTW00</a:t>
            </a:r>
            <a:endParaRPr lang="en-US" sz="1050" dirty="0"/>
          </a:p>
          <a:p>
            <a:pPr marL="342900" indent="-342900">
              <a:lnSpc>
                <a:spcPct val="135000"/>
              </a:lnSpc>
              <a:buSzPct val="100000"/>
              <a:buChar char="•"/>
            </a:pPr>
            <a:r>
              <a:rPr lang="en-US" sz="1050" dirty="0">
                <a:solidFill>
                  <a:srgbClr val="5B6474"/>
                </a:solidFill>
              </a:rPr>
              <a:t>"link": "", — https://m.topnews.cn/news/145CD2E743B14F77</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50</Slides>
  <Notes>50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2026-10-04T08:16:11Z</dcterms:created>
  <dcterms:modified xsi:type="dcterms:W3CDTF">2026-10-04T08:16:11Z</dcterms:modified>
</cp:coreProperties>
</file>