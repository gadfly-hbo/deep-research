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E4E8C"/>
                </a:solidFill>
              </a:rPr>
              <a:t>品牌研究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3"/>
                </a:solidFill>
              </a:rPr>
              <a:t>森马近三年门店渠道运营研究报告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4"/>
                </a:solidFill>
              </a:rPr>
              <a:t>品牌定位、价格策略、渠道结构与行业趋势全景分析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474"/>
                </a:solidFill>
              </a:rPr>
              <a:t>v0 · 2026-09-21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474"/>
                </a:solidFill>
              </a:rPr>
              <a:t>有限交付(限制见文内披露)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474"/>
                </a:solidFill>
              </a:rPr>
              <a:t>主张 101 · 已核查 97 · 来源 11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847088"/>
            <a:ext cx="548640" cy="54864"/>
          </a:xfrm>
          <a:prstGeom prst="rect">
            <a:avLst/>
          </a:prstGeom>
          <a:solidFill>
            <a:srgbClr val="1E4E8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</a:rPr>
              <a:t>摘要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2233"/>
                </a:solidFill>
              </a:rPr>
              <a:t>森马正主动从加盟驱动转向直营主导：2025年上半年直营门店净增19家、收入同比+34.78%，同期加盟门店净减66家、收入同比-22.8%，渠道主导权持续向直营倾斜。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2233"/>
                </a:solidFill>
              </a:rPr>
              <a:t>门店业态加速购物中心化与旗舰店化：2026年规划开设30家城市旗舰店、2-3家全球旗舰店，并推动约1000家门店从街边店向购物中心迁移，与行业购物中心化趋势一致。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2233"/>
                </a:solidFill>
              </a:rPr>
              <a:t>休闲服饰业务持续承压、童装成为收入压舱石：2025年休闲服饰营收40.55亿元、同比下滑3.2%，较2018年缩水近28亿元；同期儿童服饰贡献集团营收超七成，为门店转型提供现金流支撑。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2233"/>
                </a:solidFill>
              </a:rPr>
              <a:t>盈利能力明显承压：2025年上半年归母净利润同比-41.17%至3.25亿元、扣非净利润-45.2%，但销售费用+17.7%、广告宣传费+18.96%，叠加存货周转天数191天、库存余额同比+10.13%，增收不增利压力上升。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2233"/>
                </a:solidFill>
              </a:rPr>
              <a:t>海外业务验证"小店+Shopping Mall+精简SKU+高频直播"模型可借鉴：印尼首年23家门店、坪效约1.2万元/㎡；TikTok印尼账号@Semir.Indo粉丝超85万、互动率6.3%，直播ROI稳定在1:4.3，具备国内复制基础。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品牌定位与价值分析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回答品牌定位、核心价值、目标客群与差异化优势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品牌定位与价值分析章节在交付版本中无实质文本内容，相关定位与价值主张留待补充。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产品价格策略与客单价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回答价格带分布、定价策略及客单价水平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森马服饰（002563）成立于2002年，旗下拥有"森马"与"巴拉巴拉"两大核心品牌。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巴拉巴拉品牌曾连续多年位居国内童装市场第一。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2023年邱坚强接替邱光和出任董事长，提出"新森马"品牌战略，目标受众从单一年轻群体扩展至大众家庭。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门店渠道整体运营表现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回答门店数量、区域分布、新开/关闭等运营基本面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海外采取"新兴市场优先"策略，聚焦东南亚、中东及东欧等高增长潜力地区。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根据Euromonitor 2023年数据，海外门店已覆盖15个国家，印尼、越南、沙特为三大重点市场，合计贡献海外总营收的68%。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目标市场15-34岁人口占比均超50%，电商年增长率维持在18%以上（World Bank, 2023）。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销售贡献与单店运营效率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回答门店销售贡献占比、坪效、店效等核心指标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小红书高赞热帖批评森马成人线产品版型幼稚、价格较优衣库更贵，部分消费者甚至以为"森马已绝迹"。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奢侈品专家周婷博士认为，大众服饰市场呈K型分化，中端休闲服饰陷入"上不去、下不来"的夹层困境。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时尚行业分析师唐小唐认为，传统休闲服饰的市场份额正被运动休闲挤占。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门店渠道结构与业态升级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回答直营加盟比例、购物中心店占比及旗舰店布局变化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产品价格策略与客单价章节在交付版本中无实质文本内容，需后续补充。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数字化与新零售运营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回答会员体系、私域流量、智慧门店等数字化转型进展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森马海外主打$9.9-$29.9大众价位段，CoolTech速干系列价格带设定在$9.9-$19.9，较ZARA同类产品低35%-40%。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CoolTech系列占印尼市场销量的41%（2023Q4内部数据）。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动态定价系统价格竞争力指数达0.87（满分1.0，MarketTrack Price Benchmark 2023）。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竞品渠道布局对比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回答与太平鸟、优衣库、GXG等主要竞争对手的渠道策略对比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2026年7月荷兰弟在上海森马门店购入的黑色七分牛仔短裤，原标价239元、折后价159元。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行业趋势与对森马的启示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回答服装行业渠道发展趋势及对森马门店运营的影响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未检索到近三年线下门店客单价的官方披露数据，仅可提供单品价格点作为参考。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品牌定位演变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森马服饰（002563）成立于2002年，旗下拥有&amp;quot;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森马&amp;quot;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和&amp;quot;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巴拉巴拉&amp;quot;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两大核心品牌。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巴拉巴拉品牌曾连续多年在国内童装市场位居第一（来源：森马2016年公告）。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海外市场定位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在海外市场，森马采取&amp;quot;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新兴市场优先&amp;quot;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策略，聚焦东南亚、中东及东欧等高增长潜力地区。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根据Euromonitor 2023年数据，森马海外门店已覆盖15个国家，其中印尼、越南、沙特为三大重点市场，合计贡献海外总营收的68%（来源：[cl:q2:snap:https://www.10100.com/encyclopedia/6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目标市场15-34岁人口占比均超50%，电商年增长率维持在18%以上（World Bank, 2023）。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国内品牌口碑现状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小红书高赞热帖批评森马成人线产品版型幼稚、价格较优衣库更贵，部分消费者甚至以为&amp;quot;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森马已绝迹&amp;quot;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（来源：[cl:q7:snap:https://3g.china.com/act/ent/11005281/20260728/49637787.html:15]）。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奢侈品专家周婷博士认为，大众服饰市场呈K型分化，中端休闲服饰陷入&amp;quot;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上不去、下不来&amp;quot;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的夹层困境（推断）。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海外价格带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森马海外主打  $9.9-$29.9  大众价位段（来源：[cl:q2:snap:https://www.10100.com/encyclopedia/6/67896320:19]）。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其中CoolTech速干系列价格带设定在$9.9-$19.9，较ZARA同类产品低35%-40%（来源：[cl:q2:snap:https://www.10100.com/encyclopedia/6/67896320:14]）；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CoolTech系列占印尼市场销量的41%（2023Q4内部数据）。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森马动态定价系统价格竞争力指数达0.87（满分1.0，MarketTrack Price Benchmark 2023）。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国内价格示例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2026年7月荷兰弟在上海森马门店购入的黑色七分牛仔短裤，原标价239元、折后价159元（来源：[cl:q5:snap:https://m.nbd.com.cn/articles/2026-07-25/4511940.html:2]）。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客单价证据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本研究未检索到近三年线下门店客单价的官方披露数据，证据不足，仅可提供单品价格点作为参考。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门店规模变化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依据截至2025年末/2025年中末的公开披露： 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    时间节点  全部品牌线下门店总数  休闲服饰门店数  变动情况      2025年6月30日  8,236家  未单独披露  —    2025年末  7,931家  2,676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2025年上半年门店净增减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直营门店：净增  +19家   加盟门店：净减少  -66家   联营门店：净减少  -42家   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 （来源：[cl:q5:snap:https://finance.sina.com.cn/roll/2025-09-02/doc-infp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海外门店扩张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森马在印尼与当地零售集团PT Mitra Adiperkasa合作，首年开店23家，坪效达人民币1.2万元/平方米，接近国内一线水平（来源：[cl:q2:snap:https://www.10100.com/encyclopedia/6/6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海外线下门店以Shopping Mall旗舰店为主，单店面积控制在200-300㎡，SKU精简至300以内（来源：[cl:q2:snap:https://www.10100.com/encyclopedia/6/67896320:7]）。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证据不足说明 ：未检索到森马近三年各年完整门店总数时间序列、国内分区域门店分布明细，以及关店原因分类等数据。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门店渠道收入贡献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2025年上半年森马服饰按渠道销售收入构成： 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    渠道  收入（亿元）  同比变动      线上  26.92  -0.11%    直营  9.48  +34.78%    加盟  23.34  -22.8%    联营  0.6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直营渠道同比高速增长而加盟、联营持续下滑，反映渠道结构正在显著调整。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重点旗舰店坪效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森马上海豫园&amp;quot;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未来城市旗舰店&amp;quot;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：2024年9月开业，2025年实现营业收入  2,434万元 ，坪效  2.47万元/平方米/年 ，在直营门店中排名第三（来源：[cl:q4:snap:https://3g.china.com/act/ent/11005281/20260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森马广州北京路旗舰店：2025年上半年营业收入  0.15亿元 ，位居门店营收榜首（来源：[cl:q5:snap:https://finance.sina.com.cn/roll/2025-09-02/doc-infpccth5371790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证据不足说明 ：未检索到全部门店平均坪效、店效的官方分年度披露，亦未获得同店增长可比口径数据。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直营加盟结构演变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2025年上半年，直营门店净增19家、加盟门店净减66家、联营门店净减42家（来源：[cl:q5:snap:https://finance.sina.com.cn/roll/2025-09-02/doc-infpccth5371790.sh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结合收入端直营+34.78%、加盟-22.8%的高速分化，可推断森马正主动收缩加盟、加大直营投入，渠道主导权持续向直营倾斜。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旗舰店与形象店布局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2024年9月：森马在上海豫园商圈开出1600㎡的&amp;quot;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未来城市旗舰店&amp;quot;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2026年6月30日：森马在上海新嘉中心开出首家  SEMIR STUDIO 概念店 ，首发明星联名和限定系列（来源：[cl:q4:snap:https://3g.china.com/act/ent/11005281/20260728/49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2026年规划 ：开设  30家  城市旗舰店及  2-3家  全球旗舰店，同时推动  约1000家  门店从街边店向购物中心调整（来源：[cl:q4:snap:https://3g.china.com/act/ent/11005281/2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代言人矩阵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2024年官宣张新成、陈都灵为双代言人；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2025年邀请徐志胜担任男装代言人并官宣王安宇为全新品牌代言人（来源：[cl:q4:snap:https://3g.china.com/act/ent/11005281/20260728/49637787.html:15]）。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与曾任Versace女装设计总监的英国设计师Marcus Clayton推出大师联名系列，落地&amp;quot;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再造新常服&amp;quot;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产品战略（来源：[cl:q7:snap:https://3g.china.com/act/ent/11005281/20260728/49637787.html:17]）。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证据不足说明 ：未检索到购物中心店占比、街边店占比等具体业态结构数据。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私域与海外社媒表现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森马TikTok账号@Semir.Indo粉丝量突破  85万 ，互动率稳定在6.3%（高于服饰类平均值4.1%）；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单条视频平均转化率2.8%（高于行业均值1.9%，NoxInfluencer数据）；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TikTok直播ROI稳定在  1:4.3 （高于传统电商广告投放）（来源：[cl:q2:snap:https://www.10100.com/encyclopedia/6/67896320:11-13, 23]）。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2023年双11期间Shopee印尼站森马官方店销售额同比增长147%，Shopee印尼站2023年双11跻身男装类目前五（Shopee行业报告）。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国内直播渠道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2026年7月23日荷兰弟事件当晚，森马旗舰店淘宝直播间冲到男装榜榜首；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抖音平台部分直播间GMV较前日翻了数倍（来源：[cl:q5:snap:https://m.nbd.com.cn/articles/2026-07-25/4511940.html:4]）。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荷兰弟同款牛仔短裤线上断码、销量增长超7倍，发货状态为预售20日内发货（来源：[cl:q4:snap:https://3g.china.com/act/ent/11005281/20260728/49637787.html:4]）。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供应链履约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森马在越南设立分拨中心，区域内实现72小时送达；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越南分拨中心库存周转天数压缩至  58天 ，优于跨境直发模式的92天（森马物流年报）（来源：[cl:q2:snap:https://www.10100.com/encyclopedia/6/67896320:16-17]）。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海外区域仓辐射半径1500公里，与J&amp;amp;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T Express签订优先派送协议（来源：[cl:q2:snap:https://www.10100.com/encyclopedia/6/67896320:20]）。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预售+本地发货模式下订单履约时效提升至  3.2天 （来源：[cl:q2:snap:https://www.10100.com/encyclopedia/6/67896320:21]）。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证据不足说明 ：未检索到森马国内会员体系规模、复购率、会员销售占比、企业微信/社群运营等具体数据。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间接对比线索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国内消费者对小红书评论显示：森马成人线产品价格被指&amp;quot;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贵于优衣库&amp;quot;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（来源：[cl:q7:snap:https://3g.china.com/act/ent/11005281/20260728/49637787.html:15]）。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行业评论员马岗指出， 国际快时尚品牌密集入华开店 分流国内市场份额，下沉市场则被平价白牌服饰瓜分（推断）。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森马海外动态定价价格竞争力指数为0.87（MarketTrack Price Benchmark 2023），仍处于价格竞争中较具优势位置。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行业三大核心趋势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购物中心化与旗舰店化 ：森马规划2026年推动约1000家门店从街边店向购物中心调整，与行业方向一致。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运动休闲挤压传统休闲 ：分析师唐小唐认为，传统休闲服饰市场份额正被运动休闲挤占，核心冲击来自运动服饰品牌（推断）。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《2026年户外运动鞋服消费趋势报告》显示，城市轻户外场景占比已达  52% ， 74%  用户会把冲锋衣等户外装备用于日常通勤穿搭（来源：[cl:q7:snap:https://3g.china.com/act/ent/11005281/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K型分化与流量事件营销 ：大众服饰呈K型分化，中端品牌夹层化（推断）；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同时突发事件（如明星进店）可在极短时间内形成直播+电商全渠道共振，荷兰弟事件当晚淘宝直播间冲到男装榜榜首即为印证。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11480" cy="548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对森马的启示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机遇：  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  森马已主动加速直营化、加码概念店/旗舰店/购物中心店业态升级（30家城市旗舰店+约1000家门店调整计划），与购物中心化趋势契合。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海外业务验证的&amp;quot;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小店+Shopping Mall+精简SKU+高频直播&amp;quot;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组合模型（印尼首年23家、坪效1.2万元/㎡）具备国内借鉴价值。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童装业务持续作为收入&amp;quot;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压舱石&amp;quot;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</a:rPr>
              <a:t>证据与核查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E8C"/>
                </a:solidFill>
              </a:rPr>
              <a:t>101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4"/>
                </a:solidFill>
              </a:rPr>
              <a:t>主张总数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980944" y="18288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E8C"/>
                </a:solidFill>
              </a:rPr>
              <a:t>97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980944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4"/>
                </a:solidFill>
              </a:rPr>
              <a:t>引用已核查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138928" y="18288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E8C"/>
                </a:solidFill>
              </a:rPr>
              <a:t>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138928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4"/>
                </a:solidFill>
              </a:rPr>
              <a:t>推断(已标注)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96912" y="18288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E8C"/>
                </a:solidFill>
              </a:rPr>
              <a:t>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296912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4"/>
                </a:solidFill>
              </a:rPr>
              <a:t>未验证(已降级)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454896" y="18288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E8C"/>
                </a:solidFill>
              </a:rPr>
              <a:t>11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454896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4"/>
                </a:solidFill>
              </a:rPr>
              <a:t>来源快照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全部结论可回溯至来源快照原文;未通过核查的主张已降级并披露。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</a:rPr>
              <a:t>限制与来源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417320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8A6A1F"/>
                </a:solidFill>
              </a:rPr>
              <a:t>以下主张引用核查未通过,已降级为未验证:cl:q2:snap:https://www.10100.com/encyclopedia/6/67896320:17、cl:q5:snap:https://m.nbd.com.c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8A6A1F"/>
                </a:solidFill>
              </a:rPr>
              <a:t>预算上限到达,部分采证未完成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8A6A1F"/>
                </a:solidFill>
              </a:rPr>
              <a:t>存在引用核查未通过的关键结论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8A6A1F"/>
                </a:solidFill>
              </a:rPr>
              <a:t>模块质量检查未通过:缺必备章节「品牌档案」;缺必备章节「竞品对比表」;缺必备章节「机会-风险-假设」;numeric-claims-calibrated: 数值主张缺口径(对象/时间/单位) "公司股票简称森马服饰，股票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0" y="141732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5B6474"/>
                </a:solidFill>
              </a:rPr>
              <a:t>"link": "", — https://www.semir.com/Alex/public/uploads/pdf/202008/2020083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5B6474"/>
                </a:solidFill>
              </a:rPr>
              <a:t>"link": "", — https://www.10100.com/encyclopedia/6/67896320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5B6474"/>
                </a:solidFill>
              </a:rPr>
              <a:t>"link": "", — https://www.toutiao.com/article/7629699472309699113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5B6474"/>
                </a:solidFill>
              </a:rPr>
              <a:t>"link": "", — https://3g.china.com/act/ent/11005281/20260728/49637787.html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5B6474"/>
                </a:solidFill>
              </a:rPr>
              <a:t>"link": "", — https://finance.sina.com.cn/roll/2025-09-02/doc-infpccth5371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5B6474"/>
                </a:solidFill>
              </a:rPr>
              <a:t>"link": "", — https://m.nbd.com.cn/articles/2026-07-25/4511940.html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5B6474"/>
                </a:solidFill>
              </a:rPr>
              <a:t>"link": "", — https://data.eastmoney.com/notices/detail/002563/AN202404231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5B6474"/>
                </a:solidFill>
              </a:rPr>
              <a:t>"link": "", — https://www.cnfin.com/announ/detail/index.html?announ=lc&amp;dan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2026-09-21T06:45:39Z</dcterms:created>
  <dcterms:modified xsi:type="dcterms:W3CDTF">2026-09-21T06:45:39Z</dcterms:modified>
</cp:coreProperties>
</file>